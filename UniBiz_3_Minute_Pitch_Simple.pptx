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TIMING: 0:00–0:30
Hi everyone. Think about the time you spend on a school project or your Final Year Project. You research, design, code, test and improve it for weeks or months. But after you submit it and receive your grade, it may never be used again. UniBiz is built to solve this gap: help students give the projects they have already created a second life in the real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TIMING: 0:30–1:10
UniBiz is a marketplace made specifically for student-made projects, coursework prototypes and FYPs. This is what the browsing page looks like. A student can list an existing app, design, robot or other prototype, along with its features and starting price. A business can browse categories, compare projects, check an estimated match and adaptation time, then contact the student. So we are not just matching a business with a freelancer; we are helping an existing project find a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TIMING: 1:10–1:50
Here is an example from the website demo: TableTap QR Ordering. It is a student-built QR menu and ordering app with a kitchen dashboard. The listing shows a starting price of RM480. A café may need its own menu, branding or payment setup. Instead of starting with a blank page, the café can message the student, discuss the changes and agree on scope and timing. The student can build on work they have already done, and the business gets a more practical starting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TIMING: 1:50–2:35
UniBiz also supports the process after someone finds a project. Professor Hoot is our built-in AI assistant. It can recommend projects that fit the buyer’s needs, help draft a first message, and prepare summaries from calls. The delivery report screen helps a buyer and student see what is working, what is missing and what should be fixed next. Chats, calls, calendar events and project history are also available in one place. The aim is to make collaboration clearer, not leave people guessing about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TIMING: 2:35–3:00
Our goal is simple: good school work should not end with a grade. Students can show and continue developing what they have built, while businesses can discover useful ideas without starting from scratch. UniBiz connects campus projects with real-world needs.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2C"/>
        </a:solidFill>
      </p:bgPr>
    </p:bg>
    <p:spTree>
      <p:nvGrpSpPr>
        <p:cNvPr id="1" name=""/>
        <p:cNvGrpSpPr/>
        <p:nvPr/>
      </p:nvGrpSpPr>
      <p:grpSpPr>
        <a:xfrm>
          <a:off x="0" y="0"/>
          <a:ext cx="0" cy="0"/>
          <a:chOff x="0" y="0"/>
          <a:chExt cx="0" cy="0"/>
        </a:xfrm>
      </p:grpSpPr>
      <p:sp>
        <p:nvSpPr>
          <p:cNvPr id="2" name="Shape 0"/>
          <p:cNvSpPr/>
          <p:nvPr/>
        </p:nvSpPr>
        <p:spPr>
          <a:xfrm>
            <a:off x="8065008" y="640080"/>
            <a:ext cx="4114800" cy="4114800"/>
          </a:xfrm>
          <a:prstGeom prst="ellipse">
            <a:avLst/>
          </a:prstGeom>
          <a:solidFill>
            <a:srgbClr val="0B7A6E">
              <a:alpha val="36000"/>
            </a:srgbClr>
          </a:solidFill>
          <a:ln w="12700">
            <a:solidFill>
              <a:srgbClr val="0B7A6E">
                <a:alpha val="0"/>
              </a:srgbClr>
            </a:solidFill>
            <a:prstDash val="solid"/>
          </a:ln>
        </p:spPr>
      </p:sp>
      <p:sp>
        <p:nvSpPr>
          <p:cNvPr id="3" name="Shape 1"/>
          <p:cNvSpPr/>
          <p:nvPr/>
        </p:nvSpPr>
        <p:spPr>
          <a:xfrm>
            <a:off x="9281160" y="1325880"/>
            <a:ext cx="2880360" cy="2880360"/>
          </a:xfrm>
          <a:prstGeom prst="ellipse">
            <a:avLst/>
          </a:prstGeom>
          <a:solidFill>
            <a:srgbClr val="1C8E80">
              <a:alpha val="38000"/>
            </a:srgbClr>
          </a:solidFill>
          <a:ln w="12700">
            <a:solidFill>
              <a:srgbClr val="1C8E80">
                <a:alpha val="0"/>
              </a:srgbClr>
            </a:solidFill>
            <a:prstDash val="solid"/>
          </a:ln>
        </p:spPr>
      </p:sp>
      <p:sp>
        <p:nvSpPr>
          <p:cNvPr id="4" name="Shape 2"/>
          <p:cNvSpPr/>
          <p:nvPr/>
        </p:nvSpPr>
        <p:spPr>
          <a:xfrm>
            <a:off x="658368" y="438912"/>
            <a:ext cx="384048" cy="384048"/>
          </a:xfrm>
          <a:prstGeom prst="roundRect">
            <a:avLst>
              <a:gd name="adj" fmla="val 19048"/>
            </a:avLst>
          </a:prstGeom>
          <a:solidFill>
            <a:srgbClr val="0B7A6E"/>
          </a:solidFill>
          <a:ln w="7620">
            <a:solidFill>
              <a:srgbClr val="0B7A6E">
                <a:alpha val="0"/>
              </a:srgbClr>
            </a:solidFill>
            <a:prstDash val="solid"/>
          </a:ln>
        </p:spPr>
      </p:sp>
      <p:sp>
        <p:nvSpPr>
          <p:cNvPr id="5" name="Text 3"/>
          <p:cNvSpPr/>
          <p:nvPr/>
        </p:nvSpPr>
        <p:spPr>
          <a:xfrm>
            <a:off x="658368" y="448056"/>
            <a:ext cx="384048" cy="320040"/>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Inter" pitchFamily="34" charset="0"/>
                <a:ea typeface="Inter" pitchFamily="34" charset="-122"/>
                <a:cs typeface="Inter" pitchFamily="34" charset="-120"/>
              </a:rPr>
              <a:t>U</a:t>
            </a:r>
            <a:endParaRPr lang="en-US" sz="1800" dirty="0"/>
          </a:p>
        </p:txBody>
      </p:sp>
      <p:sp>
        <p:nvSpPr>
          <p:cNvPr id="6" name="Text 4"/>
          <p:cNvSpPr/>
          <p:nvPr/>
        </p:nvSpPr>
        <p:spPr>
          <a:xfrm>
            <a:off x="1133856" y="438912"/>
            <a:ext cx="1325880" cy="329184"/>
          </a:xfrm>
          <a:prstGeom prst="rect">
            <a:avLst/>
          </a:prstGeom>
          <a:noFill/>
          <a:ln/>
        </p:spPr>
        <p:txBody>
          <a:bodyPr wrap="square" lIns="0" tIns="0" rIns="0" bIns="0" rtlCol="0" anchor="ctr">
            <a:normAutofit/>
          </a:bodyPr>
          <a:lstStyle/>
          <a:p>
            <a:pPr algn="l" indent="0" marL="0">
              <a:buNone/>
            </a:pPr>
            <a:r>
              <a:rPr lang="en-US" sz="2100" b="1" dirty="0">
                <a:solidFill>
                  <a:srgbClr val="FFFFFF"/>
                </a:solidFill>
                <a:latin typeface="Inter" pitchFamily="34" charset="0"/>
                <a:ea typeface="Inter" pitchFamily="34" charset="-122"/>
                <a:cs typeface="Inter" pitchFamily="34" charset="-120"/>
              </a:rPr>
              <a:t>UniBiz</a:t>
            </a:r>
            <a:endParaRPr lang="en-US" sz="2100" dirty="0"/>
          </a:p>
        </p:txBody>
      </p:sp>
      <p:sp>
        <p:nvSpPr>
          <p:cNvPr id="7" name="Shape 5"/>
          <p:cNvSpPr/>
          <p:nvPr/>
        </p:nvSpPr>
        <p:spPr>
          <a:xfrm>
            <a:off x="676656" y="1234440"/>
            <a:ext cx="2880360" cy="256032"/>
          </a:xfrm>
          <a:prstGeom prst="roundRect">
            <a:avLst>
              <a:gd name="adj" fmla="val 25000"/>
            </a:avLst>
          </a:prstGeom>
          <a:solidFill>
            <a:srgbClr val="203348"/>
          </a:solidFill>
          <a:ln w="7620">
            <a:solidFill>
              <a:srgbClr val="203348">
                <a:alpha val="0"/>
              </a:srgbClr>
            </a:solidFill>
            <a:prstDash val="solid"/>
          </a:ln>
        </p:spPr>
      </p:sp>
      <p:sp>
        <p:nvSpPr>
          <p:cNvPr id="8" name="Text 6"/>
          <p:cNvSpPr/>
          <p:nvPr/>
        </p:nvSpPr>
        <p:spPr>
          <a:xfrm>
            <a:off x="768096" y="1248156"/>
            <a:ext cx="2697480" cy="201168"/>
          </a:xfrm>
          <a:prstGeom prst="rect">
            <a:avLst/>
          </a:prstGeom>
          <a:noFill/>
          <a:ln/>
        </p:spPr>
        <p:txBody>
          <a:bodyPr wrap="square" lIns="0" tIns="0" rIns="0" bIns="0" rtlCol="0" anchor="ctr">
            <a:normAutofit/>
          </a:bodyPr>
          <a:lstStyle/>
          <a:p>
            <a:pPr algn="l" indent="0" marL="0">
              <a:buNone/>
            </a:pPr>
            <a:r>
              <a:rPr lang="en-US" sz="850" b="1" spc="80" kern="0" dirty="0">
                <a:solidFill>
                  <a:srgbClr val="63D8C4"/>
                </a:solidFill>
                <a:latin typeface="Inter" pitchFamily="34" charset="0"/>
                <a:ea typeface="Inter" pitchFamily="34" charset="-122"/>
                <a:cs typeface="Inter" pitchFamily="34" charset="-120"/>
              </a:rPr>
              <a:t>STUDENT PROJECTS  ×  REAL-WORLD USE</a:t>
            </a:r>
            <a:endParaRPr lang="en-US" sz="850" dirty="0"/>
          </a:p>
        </p:txBody>
      </p:sp>
      <p:sp>
        <p:nvSpPr>
          <p:cNvPr id="9" name="Text 7"/>
          <p:cNvSpPr/>
          <p:nvPr/>
        </p:nvSpPr>
        <p:spPr>
          <a:xfrm>
            <a:off x="649224" y="1755648"/>
            <a:ext cx="4572000" cy="1965960"/>
          </a:xfrm>
          <a:prstGeom prst="rect">
            <a:avLst/>
          </a:prstGeom>
          <a:noFill/>
          <a:ln/>
        </p:spPr>
        <p:txBody>
          <a:bodyPr wrap="square" lIns="0" tIns="0" rIns="0" bIns="0" rtlCol="0" anchor="t">
            <a:normAutofit/>
          </a:bodyPr>
          <a:lstStyle/>
          <a:p>
            <a:pPr algn="l" indent="0" marL="0">
              <a:lnSpc>
                <a:spcPct val="94000"/>
              </a:lnSpc>
              <a:buNone/>
            </a:pPr>
            <a:r>
              <a:rPr lang="en-US" sz="3400" b="1" dirty="0">
                <a:solidFill>
                  <a:srgbClr val="FFFFFF"/>
                </a:solidFill>
                <a:latin typeface="Inter" pitchFamily="34" charset="0"/>
                <a:ea typeface="Inter" pitchFamily="34" charset="-122"/>
                <a:cs typeface="Inter" pitchFamily="34" charset="-120"/>
              </a:rPr>
              <a:t>Your school project</a:t>
            </a:r>
            <a:endParaRPr lang="en-US" sz="3400" dirty="0"/>
          </a:p>
          <a:p>
            <a:pPr algn="l" indent="0" marL="0">
              <a:lnSpc>
                <a:spcPct val="94000"/>
              </a:lnSpc>
              <a:buNone/>
            </a:pPr>
            <a:r>
              <a:rPr lang="en-US" sz="3400" b="1" dirty="0">
                <a:solidFill>
                  <a:srgbClr val="FFFFFF"/>
                </a:solidFill>
                <a:latin typeface="Inter" pitchFamily="34" charset="0"/>
                <a:ea typeface="Inter" pitchFamily="34" charset="-122"/>
                <a:cs typeface="Inter" pitchFamily="34" charset="-120"/>
              </a:rPr>
              <a:t>shouldn’t end at</a:t>
            </a:r>
            <a:endParaRPr lang="en-US" sz="3400" dirty="0"/>
          </a:p>
          <a:p>
            <a:pPr algn="l" indent="0" marL="0">
              <a:lnSpc>
                <a:spcPct val="94000"/>
              </a:lnSpc>
              <a:buNone/>
            </a:pPr>
            <a:r>
              <a:rPr lang="en-US" sz="3400" b="1" dirty="0">
                <a:solidFill>
                  <a:srgbClr val="FFFFFF"/>
                </a:solidFill>
                <a:latin typeface="Inter" pitchFamily="34" charset="0"/>
                <a:ea typeface="Inter" pitchFamily="34" charset="-122"/>
                <a:cs typeface="Inter" pitchFamily="34" charset="-120"/>
              </a:rPr>
              <a:t>submission.</a:t>
            </a:r>
            <a:endParaRPr lang="en-US" sz="3400" dirty="0"/>
          </a:p>
        </p:txBody>
      </p:sp>
      <p:sp>
        <p:nvSpPr>
          <p:cNvPr id="10" name="Shape 8"/>
          <p:cNvSpPr/>
          <p:nvPr/>
        </p:nvSpPr>
        <p:spPr>
          <a:xfrm>
            <a:off x="685800" y="3895344"/>
            <a:ext cx="868680" cy="64008"/>
          </a:xfrm>
          <a:prstGeom prst="roundRect">
            <a:avLst>
              <a:gd name="adj" fmla="val 28571"/>
            </a:avLst>
          </a:prstGeom>
          <a:solidFill>
            <a:srgbClr val="FFD54A"/>
          </a:solidFill>
          <a:ln w="7620">
            <a:solidFill>
              <a:srgbClr val="FFD54A">
                <a:alpha val="0"/>
              </a:srgbClr>
            </a:solidFill>
            <a:prstDash val="solid"/>
          </a:ln>
        </p:spPr>
      </p:sp>
      <p:sp>
        <p:nvSpPr>
          <p:cNvPr id="11" name="Text 9"/>
          <p:cNvSpPr/>
          <p:nvPr/>
        </p:nvSpPr>
        <p:spPr>
          <a:xfrm>
            <a:off x="685800" y="4233672"/>
            <a:ext cx="4343400" cy="850392"/>
          </a:xfrm>
          <a:prstGeom prst="rect">
            <a:avLst/>
          </a:prstGeom>
          <a:noFill/>
          <a:ln/>
        </p:spPr>
        <p:txBody>
          <a:bodyPr wrap="square" lIns="0" tIns="0" rIns="0" bIns="0" rtlCol="0" anchor="t">
            <a:normAutofit/>
          </a:bodyPr>
          <a:lstStyle/>
          <a:p>
            <a:pPr algn="l" indent="0" marL="0">
              <a:buNone/>
            </a:pPr>
            <a:r>
              <a:rPr lang="en-US" sz="1610" dirty="0">
                <a:solidFill>
                  <a:srgbClr val="D5DFE8"/>
                </a:solidFill>
                <a:latin typeface="Inter" pitchFamily="34" charset="0"/>
                <a:ea typeface="Inter" pitchFamily="34" charset="-122"/>
                <a:cs typeface="Inter" pitchFamily="34" charset="-120"/>
              </a:rPr>
              <a:t>UniBiz helps students sell and adapt school-made projects and Final Year Projects (FYPs) for real users.</a:t>
            </a:r>
            <a:endParaRPr lang="en-US" sz="1610" dirty="0"/>
          </a:p>
        </p:txBody>
      </p:sp>
      <p:sp>
        <p:nvSpPr>
          <p:cNvPr id="12" name="Text 10"/>
          <p:cNvSpPr/>
          <p:nvPr/>
        </p:nvSpPr>
        <p:spPr>
          <a:xfrm>
            <a:off x="685800" y="5321808"/>
            <a:ext cx="4343400" cy="292608"/>
          </a:xfrm>
          <a:prstGeom prst="rect">
            <a:avLst/>
          </a:prstGeom>
          <a:noFill/>
          <a:ln/>
        </p:spPr>
        <p:txBody>
          <a:bodyPr wrap="square" lIns="0" tIns="0" rIns="0" bIns="0" rtlCol="0" anchor="ctr">
            <a:normAutofit/>
          </a:bodyPr>
          <a:lstStyle/>
          <a:p>
            <a:pPr algn="l" indent="0" marL="0">
              <a:buNone/>
            </a:pPr>
            <a:r>
              <a:rPr lang="en-US" sz="1350" b="1" dirty="0">
                <a:solidFill>
                  <a:srgbClr val="63D8C4"/>
                </a:solidFill>
                <a:latin typeface="Inter" pitchFamily="34" charset="0"/>
                <a:ea typeface="Inter" pitchFamily="34" charset="-122"/>
                <a:cs typeface="Inter" pitchFamily="34" charset="-120"/>
              </a:rPr>
              <a:t>From coursework to real-world use.</a:t>
            </a:r>
            <a:endParaRPr lang="en-US" sz="1350" dirty="0"/>
          </a:p>
        </p:txBody>
      </p:sp>
      <p:sp>
        <p:nvSpPr>
          <p:cNvPr id="13" name="Shape 11"/>
          <p:cNvSpPr/>
          <p:nvPr/>
        </p:nvSpPr>
        <p:spPr>
          <a:xfrm>
            <a:off x="5198364" y="1449324"/>
            <a:ext cx="6537960" cy="4110228"/>
          </a:xfrm>
          <a:prstGeom prst="roundRect">
            <a:avLst>
              <a:gd name="adj" fmla="val 2225"/>
            </a:avLst>
          </a:prstGeom>
          <a:solidFill>
            <a:srgbClr val="FFFFFF"/>
          </a:solidFill>
          <a:ln w="10160">
            <a:solidFill>
              <a:srgbClr val="D7E0E8"/>
            </a:solidFill>
            <a:prstDash val="solid"/>
          </a:ln>
          <a:effectLst>
            <a:outerShdw sx="100000" sy="100000" kx="0" ky="0" algn="bl" rotWithShape="0" blurRad="38100" dist="50800" dir="2700000">
              <a:srgbClr val="0B1E2D">
                <a:alpha val="12000"/>
              </a:srgbClr>
            </a:outerShdw>
          </a:effectLst>
        </p:spPr>
      </p:sp>
      <p:pic>
        <p:nvPicPr>
          <p:cNvPr id="14" name="Image 0" descr="/mnt/data/unibiz_appshots/browse_ui.png">    </p:cNvPr>
          <p:cNvPicPr>
            <a:picLocks noChangeAspect="1"/>
          </p:cNvPicPr>
          <p:nvPr/>
        </p:nvPicPr>
        <p:blipFill>
          <a:blip r:embed="rId1"/>
          <a:stretch>
            <a:fillRect/>
          </a:stretch>
        </p:blipFill>
        <p:spPr>
          <a:xfrm>
            <a:off x="5230368" y="1481328"/>
            <a:ext cx="6473952" cy="4046220"/>
          </a:xfrm>
          <a:prstGeom prst="rect">
            <a:avLst/>
          </a:prstGeom>
        </p:spPr>
      </p:pic>
      <p:sp>
        <p:nvSpPr>
          <p:cNvPr id="15" name="Shape 12"/>
          <p:cNvSpPr/>
          <p:nvPr/>
        </p:nvSpPr>
        <p:spPr>
          <a:xfrm>
            <a:off x="7936992" y="5760720"/>
            <a:ext cx="2221992" cy="256032"/>
          </a:xfrm>
          <a:prstGeom prst="roundRect">
            <a:avLst>
              <a:gd name="adj" fmla="val 25000"/>
            </a:avLst>
          </a:prstGeom>
          <a:solidFill>
            <a:srgbClr val="203348"/>
          </a:solidFill>
          <a:ln w="7620">
            <a:solidFill>
              <a:srgbClr val="203348">
                <a:alpha val="0"/>
              </a:srgbClr>
            </a:solidFill>
            <a:prstDash val="solid"/>
          </a:ln>
        </p:spPr>
      </p:sp>
      <p:sp>
        <p:nvSpPr>
          <p:cNvPr id="16" name="Text 13"/>
          <p:cNvSpPr/>
          <p:nvPr/>
        </p:nvSpPr>
        <p:spPr>
          <a:xfrm>
            <a:off x="8028432" y="5774436"/>
            <a:ext cx="2039112" cy="201168"/>
          </a:xfrm>
          <a:prstGeom prst="rect">
            <a:avLst/>
          </a:prstGeom>
          <a:noFill/>
          <a:ln/>
        </p:spPr>
        <p:txBody>
          <a:bodyPr wrap="square" lIns="0" tIns="0" rIns="0" bIns="0" rtlCol="0" anchor="ctr">
            <a:normAutofit/>
          </a:bodyPr>
          <a:lstStyle/>
          <a:p>
            <a:pPr algn="l" indent="0" marL="0">
              <a:buNone/>
            </a:pPr>
            <a:r>
              <a:rPr lang="en-US" sz="850" b="1" spc="80" kern="0" dirty="0">
                <a:solidFill>
                  <a:srgbClr val="63D8C4"/>
                </a:solidFill>
                <a:latin typeface="Inter" pitchFamily="34" charset="0"/>
                <a:ea typeface="Inter" pitchFamily="34" charset="-122"/>
                <a:cs typeface="Inter" pitchFamily="34" charset="-120"/>
              </a:rPr>
              <a:t>BROWSE STUDENT PROJECTS</a:t>
            </a:r>
            <a:endParaRPr lang="en-US" sz="850" dirty="0"/>
          </a:p>
        </p:txBody>
      </p:sp>
      <p:sp>
        <p:nvSpPr>
          <p:cNvPr id="17" name="Text 14"/>
          <p:cNvSpPr/>
          <p:nvPr/>
        </p:nvSpPr>
        <p:spPr>
          <a:xfrm>
            <a:off x="5376672" y="6007608"/>
            <a:ext cx="6126480" cy="246888"/>
          </a:xfrm>
          <a:prstGeom prst="rect">
            <a:avLst/>
          </a:prstGeom>
          <a:noFill/>
          <a:ln/>
        </p:spPr>
        <p:txBody>
          <a:bodyPr wrap="square" lIns="0" tIns="0" rIns="0" bIns="0" rtlCol="0" anchor="ctr">
            <a:normAutofit/>
          </a:bodyPr>
          <a:lstStyle/>
          <a:p>
            <a:pPr algn="r" indent="0" marL="0">
              <a:buNone/>
            </a:pPr>
            <a:r>
              <a:rPr lang="en-US" sz="1400" b="1" dirty="0">
                <a:solidFill>
                  <a:srgbClr val="FFFFFF"/>
                </a:solidFill>
                <a:latin typeface="Inter" pitchFamily="34" charset="0"/>
                <a:ea typeface="Inter" pitchFamily="34" charset="-122"/>
                <a:cs typeface="Inter" pitchFamily="34" charset="-120"/>
              </a:rPr>
              <a:t>A second life for work already done.</a:t>
            </a:r>
            <a:endParaRPr lang="en-US" sz="1400" dirty="0"/>
          </a:p>
        </p:txBody>
      </p:sp>
      <p:sp>
        <p:nvSpPr>
          <p:cNvPr id="18" name="Shape 15"/>
          <p:cNvSpPr/>
          <p:nvPr/>
        </p:nvSpPr>
        <p:spPr>
          <a:xfrm>
            <a:off x="594360" y="6483096"/>
            <a:ext cx="11000232" cy="0"/>
          </a:xfrm>
          <a:prstGeom prst="line">
            <a:avLst/>
          </a:prstGeom>
          <a:noFill/>
          <a:ln w="7620">
            <a:solidFill>
              <a:srgbClr val="2C4052"/>
            </a:solidFill>
            <a:prstDash val="solid"/>
            <a:headEnd type="none"/>
            <a:tailEnd type="none"/>
          </a:ln>
        </p:spPr>
      </p:sp>
      <p:sp>
        <p:nvSpPr>
          <p:cNvPr id="19" name="Text 16"/>
          <p:cNvSpPr/>
          <p:nvPr/>
        </p:nvSpPr>
        <p:spPr>
          <a:xfrm>
            <a:off x="621792" y="6547104"/>
            <a:ext cx="4114800" cy="137160"/>
          </a:xfrm>
          <a:prstGeom prst="rect">
            <a:avLst/>
          </a:prstGeom>
          <a:noFill/>
          <a:ln/>
        </p:spPr>
        <p:txBody>
          <a:bodyPr wrap="square" lIns="0" tIns="0" rIns="0" bIns="0" rtlCol="0" anchor="ctr">
            <a:normAutofit/>
          </a:bodyPr>
          <a:lstStyle/>
          <a:p>
            <a:pPr algn="l" indent="0" marL="0">
              <a:buNone/>
            </a:pPr>
            <a:r>
              <a:rPr lang="en-US" sz="750" spc="110" kern="0" dirty="0">
                <a:solidFill>
                  <a:srgbClr val="91A5B7"/>
                </a:solidFill>
                <a:latin typeface="Inter" pitchFamily="34" charset="0"/>
                <a:ea typeface="Inter" pitchFamily="34" charset="-122"/>
                <a:cs typeface="Inter" pitchFamily="34" charset="-120"/>
              </a:rPr>
              <a:t>UNIBIZ  ·  CAMPUS TO COMMERCE</a:t>
            </a:r>
            <a:endParaRPr lang="en-US" sz="750" dirty="0"/>
          </a:p>
        </p:txBody>
      </p:sp>
      <p:sp>
        <p:nvSpPr>
          <p:cNvPr id="20" name="Text 17"/>
          <p:cNvSpPr/>
          <p:nvPr/>
        </p:nvSpPr>
        <p:spPr>
          <a:xfrm>
            <a:off x="11009376" y="6537960"/>
            <a:ext cx="566928" cy="164592"/>
          </a:xfrm>
          <a:prstGeom prst="rect">
            <a:avLst/>
          </a:prstGeom>
          <a:noFill/>
          <a:ln/>
        </p:spPr>
        <p:txBody>
          <a:bodyPr wrap="square" lIns="0" tIns="0" rIns="0" bIns="0" rtlCol="0" anchor="ctr">
            <a:normAutofit/>
          </a:bodyPr>
          <a:lstStyle/>
          <a:p>
            <a:pPr algn="r" indent="0" marL="0">
              <a:buNone/>
            </a:pPr>
            <a:r>
              <a:rPr lang="en-US" sz="800" dirty="0">
                <a:solidFill>
                  <a:srgbClr val="91A5B7"/>
                </a:solidFill>
                <a:latin typeface="Inter" pitchFamily="34" charset="0"/>
                <a:ea typeface="Inter" pitchFamily="34" charset="-122"/>
                <a:cs typeface="Inter" pitchFamily="34" charset="-120"/>
              </a:rPr>
              <a:t>1 / 5</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621792" y="329184"/>
            <a:ext cx="5669280" cy="219456"/>
          </a:xfrm>
          <a:prstGeom prst="rect">
            <a:avLst/>
          </a:prstGeom>
          <a:noFill/>
          <a:ln/>
        </p:spPr>
        <p:txBody>
          <a:bodyPr wrap="square" lIns="0" tIns="0" rIns="0" bIns="0" rtlCol="0" anchor="ctr">
            <a:normAutofit/>
          </a:bodyPr>
          <a:lstStyle/>
          <a:p>
            <a:pPr algn="l" indent="0" marL="0">
              <a:buNone/>
            </a:pPr>
            <a:r>
              <a:rPr lang="en-US" sz="900" b="1" spc="150" kern="0" dirty="0">
                <a:solidFill>
                  <a:srgbClr val="0B7A6E"/>
                </a:solidFill>
                <a:latin typeface="Inter" pitchFamily="34" charset="0"/>
                <a:ea typeface="Inter" pitchFamily="34" charset="-122"/>
                <a:cs typeface="Inter" pitchFamily="34" charset="-120"/>
              </a:rPr>
              <a:t>THE APP</a:t>
            </a:r>
            <a:endParaRPr lang="en-US" sz="900" dirty="0"/>
          </a:p>
        </p:txBody>
      </p:sp>
      <p:sp>
        <p:nvSpPr>
          <p:cNvPr id="3" name="Text 1"/>
          <p:cNvSpPr/>
          <p:nvPr/>
        </p:nvSpPr>
        <p:spPr>
          <a:xfrm>
            <a:off x="603504" y="640080"/>
            <a:ext cx="10972800" cy="475488"/>
          </a:xfrm>
          <a:prstGeom prst="rect">
            <a:avLst/>
          </a:prstGeom>
          <a:noFill/>
          <a:ln/>
        </p:spPr>
        <p:txBody>
          <a:bodyPr wrap="square" lIns="0" tIns="0" rIns="0" bIns="0" rtlCol="0" anchor="ctr">
            <a:normAutofit/>
          </a:bodyPr>
          <a:lstStyle/>
          <a:p>
            <a:pPr algn="l" indent="0" marL="0">
              <a:buNone/>
            </a:pPr>
            <a:r>
              <a:rPr lang="en-US" sz="2850" b="1" dirty="0">
                <a:solidFill>
                  <a:srgbClr val="0E1B2C"/>
                </a:solidFill>
                <a:latin typeface="Inter" pitchFamily="34" charset="0"/>
                <a:ea typeface="Inter" pitchFamily="34" charset="-122"/>
                <a:cs typeface="Inter" pitchFamily="34" charset="-120"/>
              </a:rPr>
              <a:t>Here’s what UniBiz looks like.</a:t>
            </a:r>
            <a:endParaRPr lang="en-US" sz="2850" dirty="0"/>
          </a:p>
        </p:txBody>
      </p:sp>
      <p:sp>
        <p:nvSpPr>
          <p:cNvPr id="4" name="Text 2"/>
          <p:cNvSpPr/>
          <p:nvPr/>
        </p:nvSpPr>
        <p:spPr>
          <a:xfrm>
            <a:off x="630936" y="1161288"/>
            <a:ext cx="10881360" cy="310896"/>
          </a:xfrm>
          <a:prstGeom prst="rect">
            <a:avLst/>
          </a:prstGeom>
          <a:noFill/>
          <a:ln/>
        </p:spPr>
        <p:txBody>
          <a:bodyPr wrap="square" lIns="0" tIns="0" rIns="0" bIns="0" rtlCol="0" anchor="t">
            <a:normAutofit/>
          </a:bodyPr>
          <a:lstStyle/>
          <a:p>
            <a:pPr algn="l" indent="0" marL="0">
              <a:buNone/>
            </a:pPr>
            <a:r>
              <a:rPr lang="en-US" sz="1330" dirty="0">
                <a:solidFill>
                  <a:srgbClr val="5B6B7E"/>
                </a:solidFill>
                <a:latin typeface="Inter" pitchFamily="34" charset="0"/>
                <a:ea typeface="Inter" pitchFamily="34" charset="-122"/>
                <a:cs typeface="Inter" pitchFamily="34" charset="-120"/>
              </a:rPr>
              <a:t>A marketplace for student-made projects and Final Year Projects.</a:t>
            </a:r>
            <a:endParaRPr lang="en-US" sz="1330" dirty="0"/>
          </a:p>
        </p:txBody>
      </p:sp>
      <p:sp>
        <p:nvSpPr>
          <p:cNvPr id="5" name="Shape 3"/>
          <p:cNvSpPr/>
          <p:nvPr/>
        </p:nvSpPr>
        <p:spPr>
          <a:xfrm>
            <a:off x="589788" y="1595628"/>
            <a:ext cx="7653528" cy="4807915"/>
          </a:xfrm>
          <a:prstGeom prst="roundRect">
            <a:avLst>
              <a:gd name="adj" fmla="val 1902"/>
            </a:avLst>
          </a:prstGeom>
          <a:solidFill>
            <a:srgbClr val="FFFFFF"/>
          </a:solidFill>
          <a:ln w="10160">
            <a:solidFill>
              <a:srgbClr val="D7E0E8"/>
            </a:solidFill>
            <a:prstDash val="solid"/>
          </a:ln>
          <a:effectLst>
            <a:outerShdw sx="100000" sy="100000" kx="0" ky="0" algn="bl" rotWithShape="0" blurRad="38100" dist="50800" dir="2700000">
              <a:srgbClr val="0B1E2D">
                <a:alpha val="12000"/>
              </a:srgbClr>
            </a:outerShdw>
          </a:effectLst>
        </p:spPr>
      </p:sp>
      <p:pic>
        <p:nvPicPr>
          <p:cNvPr id="6" name="Image 0" descr="/mnt/data/unibiz_appshots/browse_ui.png">    </p:cNvPr>
          <p:cNvPicPr>
            <a:picLocks noChangeAspect="1"/>
          </p:cNvPicPr>
          <p:nvPr/>
        </p:nvPicPr>
        <p:blipFill>
          <a:blip r:embed="rId1"/>
          <a:stretch>
            <a:fillRect/>
          </a:stretch>
        </p:blipFill>
        <p:spPr>
          <a:xfrm>
            <a:off x="621792" y="1627632"/>
            <a:ext cx="7589520" cy="4743907"/>
          </a:xfrm>
          <a:prstGeom prst="rect">
            <a:avLst/>
          </a:prstGeom>
        </p:spPr>
      </p:pic>
      <p:sp>
        <p:nvSpPr>
          <p:cNvPr id="7" name="Shape 4"/>
          <p:cNvSpPr/>
          <p:nvPr/>
        </p:nvSpPr>
        <p:spPr>
          <a:xfrm>
            <a:off x="8732520" y="1901952"/>
            <a:ext cx="393192" cy="393192"/>
          </a:xfrm>
          <a:prstGeom prst="ellipse">
            <a:avLst/>
          </a:prstGeom>
          <a:solidFill>
            <a:srgbClr val="0B7A6E"/>
          </a:solidFill>
          <a:ln w="12700">
            <a:solidFill>
              <a:srgbClr val="0B7A6E">
                <a:alpha val="0"/>
              </a:srgbClr>
            </a:solidFill>
            <a:prstDash val="solid"/>
          </a:ln>
        </p:spPr>
      </p:sp>
      <p:sp>
        <p:nvSpPr>
          <p:cNvPr id="8" name="Text 5"/>
          <p:cNvSpPr/>
          <p:nvPr/>
        </p:nvSpPr>
        <p:spPr>
          <a:xfrm>
            <a:off x="8732520" y="1920240"/>
            <a:ext cx="393192" cy="32004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01</a:t>
            </a:r>
            <a:endParaRPr lang="en-US" sz="1000" dirty="0"/>
          </a:p>
        </p:txBody>
      </p:sp>
      <p:sp>
        <p:nvSpPr>
          <p:cNvPr id="9" name="Text 6"/>
          <p:cNvSpPr/>
          <p:nvPr/>
        </p:nvSpPr>
        <p:spPr>
          <a:xfrm>
            <a:off x="9253728" y="1892808"/>
            <a:ext cx="2395728" cy="265176"/>
          </a:xfrm>
          <a:prstGeom prst="rect">
            <a:avLst/>
          </a:prstGeom>
          <a:noFill/>
          <a:ln/>
        </p:spPr>
        <p:txBody>
          <a:bodyPr wrap="square" lIns="0" tIns="0" rIns="0" bIns="0" rtlCol="0" anchor="ctr">
            <a:normAutofit/>
          </a:bodyPr>
          <a:lstStyle/>
          <a:p>
            <a:pPr algn="l" indent="0" marL="0">
              <a:buNone/>
            </a:pPr>
            <a:r>
              <a:rPr lang="en-US" sz="1620" b="1" dirty="0">
                <a:solidFill>
                  <a:srgbClr val="0E1B2C"/>
                </a:solidFill>
                <a:latin typeface="Inter" pitchFamily="34" charset="0"/>
                <a:ea typeface="Inter" pitchFamily="34" charset="-122"/>
                <a:cs typeface="Inter" pitchFamily="34" charset="-120"/>
              </a:rPr>
              <a:t>Browse projects</a:t>
            </a:r>
            <a:endParaRPr lang="en-US" sz="1620" dirty="0"/>
          </a:p>
        </p:txBody>
      </p:sp>
      <p:sp>
        <p:nvSpPr>
          <p:cNvPr id="10" name="Text 7"/>
          <p:cNvSpPr/>
          <p:nvPr/>
        </p:nvSpPr>
        <p:spPr>
          <a:xfrm>
            <a:off x="9253728" y="2231136"/>
            <a:ext cx="2423160" cy="484632"/>
          </a:xfrm>
          <a:prstGeom prst="rect">
            <a:avLst/>
          </a:prstGeom>
          <a:noFill/>
          <a:ln/>
        </p:spPr>
        <p:txBody>
          <a:bodyPr wrap="square" lIns="0" tIns="0" rIns="0" bIns="0" rtlCol="0" anchor="t">
            <a:normAutofit/>
          </a:bodyPr>
          <a:lstStyle/>
          <a:p>
            <a:pPr algn="l" indent="0" marL="0">
              <a:buNone/>
            </a:pPr>
            <a:r>
              <a:rPr lang="en-US" sz="1220" dirty="0">
                <a:solidFill>
                  <a:srgbClr val="5B6B7E"/>
                </a:solidFill>
                <a:latin typeface="Inter" pitchFamily="34" charset="0"/>
                <a:ea typeface="Inter" pitchFamily="34" charset="-122"/>
                <a:cs typeface="Inter" pitchFamily="34" charset="-120"/>
              </a:rPr>
              <a:t>Apps, designs, robots and more.</a:t>
            </a:r>
            <a:endParaRPr lang="en-US" sz="1220" dirty="0"/>
          </a:p>
        </p:txBody>
      </p:sp>
      <p:sp>
        <p:nvSpPr>
          <p:cNvPr id="11" name="Shape 8"/>
          <p:cNvSpPr/>
          <p:nvPr/>
        </p:nvSpPr>
        <p:spPr>
          <a:xfrm>
            <a:off x="8732520" y="3044952"/>
            <a:ext cx="393192" cy="393192"/>
          </a:xfrm>
          <a:prstGeom prst="ellipse">
            <a:avLst/>
          </a:prstGeom>
          <a:solidFill>
            <a:srgbClr val="FFD54A"/>
          </a:solidFill>
          <a:ln w="12700">
            <a:solidFill>
              <a:srgbClr val="FFD54A">
                <a:alpha val="0"/>
              </a:srgbClr>
            </a:solidFill>
            <a:prstDash val="solid"/>
          </a:ln>
        </p:spPr>
      </p:sp>
      <p:sp>
        <p:nvSpPr>
          <p:cNvPr id="12" name="Text 9"/>
          <p:cNvSpPr/>
          <p:nvPr/>
        </p:nvSpPr>
        <p:spPr>
          <a:xfrm>
            <a:off x="8732520" y="3063240"/>
            <a:ext cx="393192" cy="320040"/>
          </a:xfrm>
          <a:prstGeom prst="rect">
            <a:avLst/>
          </a:prstGeom>
          <a:noFill/>
          <a:ln/>
        </p:spPr>
        <p:txBody>
          <a:bodyPr wrap="square" lIns="0" tIns="0" rIns="0" bIns="0" rtlCol="0" anchor="ctr">
            <a:normAutofit/>
          </a:bodyPr>
          <a:lstStyle/>
          <a:p>
            <a:pPr algn="ctr" indent="0" marL="0">
              <a:buNone/>
            </a:pPr>
            <a:r>
              <a:rPr lang="en-US" sz="1000" b="1" dirty="0">
                <a:solidFill>
                  <a:srgbClr val="0E1B2C"/>
                </a:solidFill>
                <a:latin typeface="Inter" pitchFamily="34" charset="0"/>
                <a:ea typeface="Inter" pitchFamily="34" charset="-122"/>
                <a:cs typeface="Inter" pitchFamily="34" charset="-120"/>
              </a:rPr>
              <a:t>02</a:t>
            </a:r>
            <a:endParaRPr lang="en-US" sz="1000" dirty="0"/>
          </a:p>
        </p:txBody>
      </p:sp>
      <p:sp>
        <p:nvSpPr>
          <p:cNvPr id="13" name="Text 10"/>
          <p:cNvSpPr/>
          <p:nvPr/>
        </p:nvSpPr>
        <p:spPr>
          <a:xfrm>
            <a:off x="9253728" y="3035808"/>
            <a:ext cx="2395728" cy="265176"/>
          </a:xfrm>
          <a:prstGeom prst="rect">
            <a:avLst/>
          </a:prstGeom>
          <a:noFill/>
          <a:ln/>
        </p:spPr>
        <p:txBody>
          <a:bodyPr wrap="square" lIns="0" tIns="0" rIns="0" bIns="0" rtlCol="0" anchor="ctr">
            <a:normAutofit/>
          </a:bodyPr>
          <a:lstStyle/>
          <a:p>
            <a:pPr algn="l" indent="0" marL="0">
              <a:buNone/>
            </a:pPr>
            <a:r>
              <a:rPr lang="en-US" sz="1620" b="1" dirty="0">
                <a:solidFill>
                  <a:srgbClr val="0E1B2C"/>
                </a:solidFill>
                <a:latin typeface="Inter" pitchFamily="34" charset="0"/>
                <a:ea typeface="Inter" pitchFamily="34" charset="-122"/>
                <a:cs typeface="Inter" pitchFamily="34" charset="-120"/>
              </a:rPr>
              <a:t>Compare options</a:t>
            </a:r>
            <a:endParaRPr lang="en-US" sz="1620" dirty="0"/>
          </a:p>
        </p:txBody>
      </p:sp>
      <p:sp>
        <p:nvSpPr>
          <p:cNvPr id="14" name="Text 11"/>
          <p:cNvSpPr/>
          <p:nvPr/>
        </p:nvSpPr>
        <p:spPr>
          <a:xfrm>
            <a:off x="9253728" y="3374136"/>
            <a:ext cx="2423160" cy="484632"/>
          </a:xfrm>
          <a:prstGeom prst="rect">
            <a:avLst/>
          </a:prstGeom>
          <a:noFill/>
          <a:ln/>
        </p:spPr>
        <p:txBody>
          <a:bodyPr wrap="square" lIns="0" tIns="0" rIns="0" bIns="0" rtlCol="0" anchor="t">
            <a:normAutofit/>
          </a:bodyPr>
          <a:lstStyle/>
          <a:p>
            <a:pPr algn="l" indent="0" marL="0">
              <a:buNone/>
            </a:pPr>
            <a:r>
              <a:rPr lang="en-US" sz="1220" dirty="0">
                <a:solidFill>
                  <a:srgbClr val="5B6B7E"/>
                </a:solidFill>
                <a:latin typeface="Inter" pitchFamily="34" charset="0"/>
                <a:ea typeface="Inter" pitchFamily="34" charset="-122"/>
                <a:cs typeface="Inter" pitchFamily="34" charset="-120"/>
              </a:rPr>
              <a:t>See price, match score and estimated changes.</a:t>
            </a:r>
            <a:endParaRPr lang="en-US" sz="1220" dirty="0"/>
          </a:p>
        </p:txBody>
      </p:sp>
      <p:sp>
        <p:nvSpPr>
          <p:cNvPr id="15" name="Shape 12"/>
          <p:cNvSpPr/>
          <p:nvPr/>
        </p:nvSpPr>
        <p:spPr>
          <a:xfrm>
            <a:off x="8732520" y="4187952"/>
            <a:ext cx="393192" cy="393192"/>
          </a:xfrm>
          <a:prstGeom prst="ellipse">
            <a:avLst/>
          </a:prstGeom>
          <a:solidFill>
            <a:srgbClr val="0B7A6E"/>
          </a:solidFill>
          <a:ln w="12700">
            <a:solidFill>
              <a:srgbClr val="0B7A6E">
                <a:alpha val="0"/>
              </a:srgbClr>
            </a:solidFill>
            <a:prstDash val="solid"/>
          </a:ln>
        </p:spPr>
      </p:sp>
      <p:sp>
        <p:nvSpPr>
          <p:cNvPr id="16" name="Text 13"/>
          <p:cNvSpPr/>
          <p:nvPr/>
        </p:nvSpPr>
        <p:spPr>
          <a:xfrm>
            <a:off x="8732520" y="4206240"/>
            <a:ext cx="393192" cy="32004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03</a:t>
            </a:r>
            <a:endParaRPr lang="en-US" sz="1000" dirty="0"/>
          </a:p>
        </p:txBody>
      </p:sp>
      <p:sp>
        <p:nvSpPr>
          <p:cNvPr id="17" name="Text 14"/>
          <p:cNvSpPr/>
          <p:nvPr/>
        </p:nvSpPr>
        <p:spPr>
          <a:xfrm>
            <a:off x="9253728" y="4178808"/>
            <a:ext cx="2395728" cy="265176"/>
          </a:xfrm>
          <a:prstGeom prst="rect">
            <a:avLst/>
          </a:prstGeom>
          <a:noFill/>
          <a:ln/>
        </p:spPr>
        <p:txBody>
          <a:bodyPr wrap="square" lIns="0" tIns="0" rIns="0" bIns="0" rtlCol="0" anchor="ctr">
            <a:normAutofit/>
          </a:bodyPr>
          <a:lstStyle/>
          <a:p>
            <a:pPr algn="l" indent="0" marL="0">
              <a:buNone/>
            </a:pPr>
            <a:r>
              <a:rPr lang="en-US" sz="1620" b="1" dirty="0">
                <a:solidFill>
                  <a:srgbClr val="0E1B2C"/>
                </a:solidFill>
                <a:latin typeface="Inter" pitchFamily="34" charset="0"/>
                <a:ea typeface="Inter" pitchFamily="34" charset="-122"/>
                <a:cs typeface="Inter" pitchFamily="34" charset="-120"/>
              </a:rPr>
              <a:t>Contact the student</a:t>
            </a:r>
            <a:endParaRPr lang="en-US" sz="1620" dirty="0"/>
          </a:p>
        </p:txBody>
      </p:sp>
      <p:sp>
        <p:nvSpPr>
          <p:cNvPr id="18" name="Text 15"/>
          <p:cNvSpPr/>
          <p:nvPr/>
        </p:nvSpPr>
        <p:spPr>
          <a:xfrm>
            <a:off x="9253728" y="4517136"/>
            <a:ext cx="2423160" cy="484632"/>
          </a:xfrm>
          <a:prstGeom prst="rect">
            <a:avLst/>
          </a:prstGeom>
          <a:noFill/>
          <a:ln/>
        </p:spPr>
        <p:txBody>
          <a:bodyPr wrap="square" lIns="0" tIns="0" rIns="0" bIns="0" rtlCol="0" anchor="t">
            <a:normAutofit/>
          </a:bodyPr>
          <a:lstStyle/>
          <a:p>
            <a:pPr algn="l" indent="0" marL="0">
              <a:buNone/>
            </a:pPr>
            <a:r>
              <a:rPr lang="en-US" sz="1220" dirty="0">
                <a:solidFill>
                  <a:srgbClr val="5B6B7E"/>
                </a:solidFill>
                <a:latin typeface="Inter" pitchFamily="34" charset="0"/>
                <a:ea typeface="Inter" pitchFamily="34" charset="-122"/>
                <a:cs typeface="Inter" pitchFamily="34" charset="-120"/>
              </a:rPr>
              <a:t>Discuss what needs to be customised.</a:t>
            </a:r>
            <a:endParaRPr lang="en-US" sz="1220" dirty="0"/>
          </a:p>
        </p:txBody>
      </p:sp>
      <p:sp>
        <p:nvSpPr>
          <p:cNvPr id="19" name="Shape 16"/>
          <p:cNvSpPr/>
          <p:nvPr/>
        </p:nvSpPr>
        <p:spPr>
          <a:xfrm>
            <a:off x="8732520" y="5495544"/>
            <a:ext cx="2926080" cy="621792"/>
          </a:xfrm>
          <a:prstGeom prst="roundRect">
            <a:avLst>
              <a:gd name="adj" fmla="val 14706"/>
            </a:avLst>
          </a:prstGeom>
          <a:solidFill>
            <a:srgbClr val="FFF6D5"/>
          </a:solidFill>
          <a:ln w="7620">
            <a:solidFill>
              <a:srgbClr val="FFF6D5">
                <a:alpha val="0"/>
              </a:srgbClr>
            </a:solidFill>
            <a:prstDash val="solid"/>
          </a:ln>
        </p:spPr>
      </p:sp>
      <p:sp>
        <p:nvSpPr>
          <p:cNvPr id="20" name="Text 17"/>
          <p:cNvSpPr/>
          <p:nvPr/>
        </p:nvSpPr>
        <p:spPr>
          <a:xfrm>
            <a:off x="8915400" y="5577840"/>
            <a:ext cx="2587752" cy="420624"/>
          </a:xfrm>
          <a:prstGeom prst="rect">
            <a:avLst/>
          </a:prstGeom>
          <a:noFill/>
          <a:ln/>
        </p:spPr>
        <p:txBody>
          <a:bodyPr wrap="square" lIns="0" tIns="0" rIns="0" bIns="0" rtlCol="0" anchor="ctr">
            <a:normAutofit/>
          </a:bodyPr>
          <a:lstStyle/>
          <a:p>
            <a:pPr algn="l" indent="0" marL="0">
              <a:buNone/>
            </a:pPr>
            <a:r>
              <a:rPr lang="en-US" sz="1140" b="1" dirty="0">
                <a:solidFill>
                  <a:srgbClr val="6A5500"/>
                </a:solidFill>
                <a:latin typeface="Inter" pitchFamily="34" charset="0"/>
                <a:ea typeface="Inter" pitchFamily="34" charset="-122"/>
                <a:cs typeface="Inter" pitchFamily="34" charset="-120"/>
              </a:rPr>
              <a:t>Made for existing student work — not just freelance jobs.</a:t>
            </a:r>
            <a:endParaRPr lang="en-US" sz="1140" dirty="0"/>
          </a:p>
        </p:txBody>
      </p:sp>
      <p:sp>
        <p:nvSpPr>
          <p:cNvPr id="21" name="Shape 18"/>
          <p:cNvSpPr/>
          <p:nvPr/>
        </p:nvSpPr>
        <p:spPr>
          <a:xfrm>
            <a:off x="594360" y="6483096"/>
            <a:ext cx="11000232" cy="0"/>
          </a:xfrm>
          <a:prstGeom prst="line">
            <a:avLst/>
          </a:prstGeom>
          <a:noFill/>
          <a:ln w="7620">
            <a:solidFill>
              <a:srgbClr val="DCE4EB"/>
            </a:solidFill>
            <a:prstDash val="solid"/>
            <a:headEnd type="none"/>
            <a:tailEnd type="none"/>
          </a:ln>
        </p:spPr>
      </p:sp>
      <p:sp>
        <p:nvSpPr>
          <p:cNvPr id="22" name="Text 19"/>
          <p:cNvSpPr/>
          <p:nvPr/>
        </p:nvSpPr>
        <p:spPr>
          <a:xfrm>
            <a:off x="621792" y="6547104"/>
            <a:ext cx="4114800" cy="137160"/>
          </a:xfrm>
          <a:prstGeom prst="rect">
            <a:avLst/>
          </a:prstGeom>
          <a:noFill/>
          <a:ln/>
        </p:spPr>
        <p:txBody>
          <a:bodyPr wrap="square" lIns="0" tIns="0" rIns="0" bIns="0" rtlCol="0" anchor="ctr">
            <a:normAutofit/>
          </a:bodyPr>
          <a:lstStyle/>
          <a:p>
            <a:pPr algn="l" indent="0" marL="0">
              <a:buNone/>
            </a:pPr>
            <a:r>
              <a:rPr lang="en-US" sz="750" spc="110" kern="0" dirty="0">
                <a:solidFill>
                  <a:srgbClr val="738294"/>
                </a:solidFill>
                <a:latin typeface="Inter" pitchFamily="34" charset="0"/>
                <a:ea typeface="Inter" pitchFamily="34" charset="-122"/>
                <a:cs typeface="Inter" pitchFamily="34" charset="-120"/>
              </a:rPr>
              <a:t>UNIBIZ  ·  CAMPUS TO COMMERCE</a:t>
            </a:r>
            <a:endParaRPr lang="en-US" sz="750" dirty="0"/>
          </a:p>
        </p:txBody>
      </p:sp>
      <p:sp>
        <p:nvSpPr>
          <p:cNvPr id="23" name="Text 20"/>
          <p:cNvSpPr/>
          <p:nvPr/>
        </p:nvSpPr>
        <p:spPr>
          <a:xfrm>
            <a:off x="11009376" y="6537960"/>
            <a:ext cx="566928" cy="164592"/>
          </a:xfrm>
          <a:prstGeom prst="rect">
            <a:avLst/>
          </a:prstGeom>
          <a:noFill/>
          <a:ln/>
        </p:spPr>
        <p:txBody>
          <a:bodyPr wrap="square" lIns="0" tIns="0" rIns="0" bIns="0" rtlCol="0" anchor="ctr">
            <a:normAutofit/>
          </a:bodyPr>
          <a:lstStyle/>
          <a:p>
            <a:pPr algn="r" indent="0" marL="0">
              <a:buNone/>
            </a:pPr>
            <a:r>
              <a:rPr lang="en-US" sz="800" dirty="0">
                <a:solidFill>
                  <a:srgbClr val="738294"/>
                </a:solidFill>
                <a:latin typeface="Inter" pitchFamily="34" charset="0"/>
                <a:ea typeface="Inter" pitchFamily="34" charset="-122"/>
                <a:cs typeface="Inter" pitchFamily="34" charset="-120"/>
              </a:rPr>
              <a:t>2 / 5</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621792" y="329184"/>
            <a:ext cx="5669280" cy="219456"/>
          </a:xfrm>
          <a:prstGeom prst="rect">
            <a:avLst/>
          </a:prstGeom>
          <a:noFill/>
          <a:ln/>
        </p:spPr>
        <p:txBody>
          <a:bodyPr wrap="square" lIns="0" tIns="0" rIns="0" bIns="0" rtlCol="0" anchor="ctr">
            <a:normAutofit/>
          </a:bodyPr>
          <a:lstStyle/>
          <a:p>
            <a:pPr algn="l" indent="0" marL="0">
              <a:buNone/>
            </a:pPr>
            <a:r>
              <a:rPr lang="en-US" sz="900" b="1" spc="150" kern="0" dirty="0">
                <a:solidFill>
                  <a:srgbClr val="0B7A6E"/>
                </a:solidFill>
                <a:latin typeface="Inter" pitchFamily="34" charset="0"/>
                <a:ea typeface="Inter" pitchFamily="34" charset="-122"/>
                <a:cs typeface="Inter" pitchFamily="34" charset="-120"/>
              </a:rPr>
              <a:t>EXAMPLE</a:t>
            </a:r>
            <a:endParaRPr lang="en-US" sz="900" dirty="0"/>
          </a:p>
        </p:txBody>
      </p:sp>
      <p:sp>
        <p:nvSpPr>
          <p:cNvPr id="3" name="Text 1"/>
          <p:cNvSpPr/>
          <p:nvPr/>
        </p:nvSpPr>
        <p:spPr>
          <a:xfrm>
            <a:off x="603504" y="640080"/>
            <a:ext cx="10972800" cy="475488"/>
          </a:xfrm>
          <a:prstGeom prst="rect">
            <a:avLst/>
          </a:prstGeom>
          <a:noFill/>
          <a:ln/>
        </p:spPr>
        <p:txBody>
          <a:bodyPr wrap="square" lIns="0" tIns="0" rIns="0" bIns="0" rtlCol="0" anchor="ctr">
            <a:normAutofit/>
          </a:bodyPr>
          <a:lstStyle/>
          <a:p>
            <a:pPr algn="l" indent="0" marL="0">
              <a:buNone/>
            </a:pPr>
            <a:r>
              <a:rPr lang="en-US" sz="2850" b="1" dirty="0">
                <a:solidFill>
                  <a:srgbClr val="0E1B2C"/>
                </a:solidFill>
                <a:latin typeface="Inter" pitchFamily="34" charset="0"/>
                <a:ea typeface="Inter" pitchFamily="34" charset="-122"/>
                <a:cs typeface="Inter" pitchFamily="34" charset="-120"/>
              </a:rPr>
              <a:t>One project. A new real-world use.</a:t>
            </a:r>
            <a:endParaRPr lang="en-US" sz="2850" dirty="0"/>
          </a:p>
        </p:txBody>
      </p:sp>
      <p:sp>
        <p:nvSpPr>
          <p:cNvPr id="4" name="Text 2"/>
          <p:cNvSpPr/>
          <p:nvPr/>
        </p:nvSpPr>
        <p:spPr>
          <a:xfrm>
            <a:off x="630936" y="1161288"/>
            <a:ext cx="10881360" cy="310896"/>
          </a:xfrm>
          <a:prstGeom prst="rect">
            <a:avLst/>
          </a:prstGeom>
          <a:noFill/>
          <a:ln/>
        </p:spPr>
        <p:txBody>
          <a:bodyPr wrap="square" lIns="0" tIns="0" rIns="0" bIns="0" rtlCol="0" anchor="t">
            <a:normAutofit/>
          </a:bodyPr>
          <a:lstStyle/>
          <a:p>
            <a:pPr algn="l" indent="0" marL="0">
              <a:buNone/>
            </a:pPr>
            <a:r>
              <a:rPr lang="en-US" sz="1330" dirty="0">
                <a:solidFill>
                  <a:srgbClr val="5B6B7E"/>
                </a:solidFill>
                <a:latin typeface="Inter" pitchFamily="34" charset="0"/>
                <a:ea typeface="Inter" pitchFamily="34" charset="-122"/>
                <a:cs typeface="Inter" pitchFamily="34" charset="-120"/>
              </a:rPr>
              <a:t>Example listing from the UniBiz website demo.</a:t>
            </a:r>
            <a:endParaRPr lang="en-US" sz="1330" dirty="0"/>
          </a:p>
        </p:txBody>
      </p:sp>
      <p:sp>
        <p:nvSpPr>
          <p:cNvPr id="5" name="Shape 3"/>
          <p:cNvSpPr/>
          <p:nvPr/>
        </p:nvSpPr>
        <p:spPr>
          <a:xfrm>
            <a:off x="580644" y="1961388"/>
            <a:ext cx="7123176" cy="3405226"/>
          </a:xfrm>
          <a:prstGeom prst="roundRect">
            <a:avLst>
              <a:gd name="adj" fmla="val 2685"/>
            </a:avLst>
          </a:prstGeom>
          <a:solidFill>
            <a:srgbClr val="FFFFFF"/>
          </a:solidFill>
          <a:ln w="10160">
            <a:solidFill>
              <a:srgbClr val="D7E0E8"/>
            </a:solidFill>
            <a:prstDash val="solid"/>
          </a:ln>
          <a:effectLst>
            <a:outerShdw sx="100000" sy="100000" kx="0" ky="0" algn="bl" rotWithShape="0" blurRad="38100" dist="50800" dir="2700000">
              <a:srgbClr val="0B1E2D">
                <a:alpha val="12000"/>
              </a:srgbClr>
            </a:outerShdw>
          </a:effectLst>
        </p:spPr>
      </p:sp>
      <p:pic>
        <p:nvPicPr>
          <p:cNvPr id="6" name="Image 0" descr="/mnt/data/unibiz_appshots/tabletap_card.png">    </p:cNvPr>
          <p:cNvPicPr>
            <a:picLocks noChangeAspect="1"/>
          </p:cNvPicPr>
          <p:nvPr/>
        </p:nvPicPr>
        <p:blipFill>
          <a:blip r:embed="rId1"/>
          <a:stretch>
            <a:fillRect/>
          </a:stretch>
        </p:blipFill>
        <p:spPr>
          <a:xfrm>
            <a:off x="612648" y="1993392"/>
            <a:ext cx="7059168" cy="3341218"/>
          </a:xfrm>
          <a:prstGeom prst="rect">
            <a:avLst/>
          </a:prstGeom>
        </p:spPr>
      </p:pic>
      <p:sp>
        <p:nvSpPr>
          <p:cNvPr id="7" name="Text 4"/>
          <p:cNvSpPr/>
          <p:nvPr/>
        </p:nvSpPr>
        <p:spPr>
          <a:xfrm>
            <a:off x="7973568" y="1975104"/>
            <a:ext cx="3566160" cy="201168"/>
          </a:xfrm>
          <a:prstGeom prst="rect">
            <a:avLst/>
          </a:prstGeom>
          <a:noFill/>
          <a:ln/>
        </p:spPr>
        <p:txBody>
          <a:bodyPr wrap="square" lIns="0" tIns="0" rIns="0" bIns="0" rtlCol="0" anchor="ctr">
            <a:normAutofit/>
          </a:bodyPr>
          <a:lstStyle/>
          <a:p>
            <a:pPr algn="l" indent="0" marL="0">
              <a:buNone/>
            </a:pPr>
            <a:r>
              <a:rPr lang="en-US" sz="900" b="1" spc="130" kern="0" dirty="0">
                <a:solidFill>
                  <a:srgbClr val="0B7A6E"/>
                </a:solidFill>
                <a:latin typeface="Inter" pitchFamily="34" charset="0"/>
                <a:ea typeface="Inter" pitchFamily="34" charset="-122"/>
                <a:cs typeface="Inter" pitchFamily="34" charset="-120"/>
              </a:rPr>
              <a:t>HOW IT WORKS</a:t>
            </a:r>
            <a:endParaRPr lang="en-US" sz="900" dirty="0"/>
          </a:p>
        </p:txBody>
      </p:sp>
      <p:sp>
        <p:nvSpPr>
          <p:cNvPr id="8" name="Shape 5"/>
          <p:cNvSpPr/>
          <p:nvPr/>
        </p:nvSpPr>
        <p:spPr>
          <a:xfrm>
            <a:off x="7973568" y="2331720"/>
            <a:ext cx="384048" cy="384048"/>
          </a:xfrm>
          <a:prstGeom prst="ellipse">
            <a:avLst/>
          </a:prstGeom>
          <a:solidFill>
            <a:srgbClr val="0B7A6E"/>
          </a:solidFill>
          <a:ln w="12700">
            <a:solidFill>
              <a:srgbClr val="0B7A6E">
                <a:alpha val="0"/>
              </a:srgbClr>
            </a:solidFill>
            <a:prstDash val="solid"/>
          </a:ln>
        </p:spPr>
      </p:sp>
      <p:sp>
        <p:nvSpPr>
          <p:cNvPr id="9" name="Text 6"/>
          <p:cNvSpPr/>
          <p:nvPr/>
        </p:nvSpPr>
        <p:spPr>
          <a:xfrm>
            <a:off x="7973568" y="2345436"/>
            <a:ext cx="384048" cy="31089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Inter" pitchFamily="34" charset="0"/>
                <a:ea typeface="Inter" pitchFamily="34" charset="-122"/>
                <a:cs typeface="Inter" pitchFamily="34" charset="-120"/>
              </a:rPr>
              <a:t>1</a:t>
            </a:r>
            <a:endParaRPr lang="en-US" sz="1200" dirty="0"/>
          </a:p>
        </p:txBody>
      </p:sp>
      <p:sp>
        <p:nvSpPr>
          <p:cNvPr id="10" name="Text 7"/>
          <p:cNvSpPr/>
          <p:nvPr/>
        </p:nvSpPr>
        <p:spPr>
          <a:xfrm>
            <a:off x="8503920" y="2318004"/>
            <a:ext cx="2907792" cy="274320"/>
          </a:xfrm>
          <a:prstGeom prst="rect">
            <a:avLst/>
          </a:prstGeom>
          <a:noFill/>
          <a:ln/>
        </p:spPr>
        <p:txBody>
          <a:bodyPr wrap="square" lIns="0" tIns="0" rIns="0" bIns="0" rtlCol="0" anchor="ctr">
            <a:normAutofit/>
          </a:bodyPr>
          <a:lstStyle/>
          <a:p>
            <a:pPr algn="l" indent="0" marL="0">
              <a:buNone/>
            </a:pPr>
            <a:r>
              <a:rPr lang="en-US" sz="1520" b="1" dirty="0">
                <a:solidFill>
                  <a:srgbClr val="0E1B2C"/>
                </a:solidFill>
                <a:latin typeface="Inter" pitchFamily="34" charset="0"/>
                <a:ea typeface="Inter" pitchFamily="34" charset="-122"/>
                <a:cs typeface="Inter" pitchFamily="34" charset="-120"/>
              </a:rPr>
              <a:t>A student lists a project</a:t>
            </a:r>
            <a:endParaRPr lang="en-US" sz="1520" dirty="0"/>
          </a:p>
        </p:txBody>
      </p:sp>
      <p:sp>
        <p:nvSpPr>
          <p:cNvPr id="11" name="Text 8"/>
          <p:cNvSpPr/>
          <p:nvPr/>
        </p:nvSpPr>
        <p:spPr>
          <a:xfrm>
            <a:off x="8503920" y="2642616"/>
            <a:ext cx="2880360" cy="448056"/>
          </a:xfrm>
          <a:prstGeom prst="rect">
            <a:avLst/>
          </a:prstGeom>
          <a:noFill/>
          <a:ln/>
        </p:spPr>
        <p:txBody>
          <a:bodyPr wrap="square" lIns="0" tIns="0" rIns="0" bIns="0" rtlCol="0" anchor="t">
            <a:normAutofit/>
          </a:bodyPr>
          <a:lstStyle/>
          <a:p>
            <a:pPr algn="l" indent="0" marL="0">
              <a:buNone/>
            </a:pPr>
            <a:r>
              <a:rPr lang="en-US" sz="1180" dirty="0">
                <a:solidFill>
                  <a:srgbClr val="5B6B7E"/>
                </a:solidFill>
                <a:latin typeface="Inter" pitchFamily="34" charset="0"/>
                <a:ea typeface="Inter" pitchFamily="34" charset="-122"/>
                <a:cs typeface="Inter" pitchFamily="34" charset="-120"/>
              </a:rPr>
              <a:t>They show the demo, features and starter price.</a:t>
            </a:r>
            <a:endParaRPr lang="en-US" sz="1180" dirty="0"/>
          </a:p>
        </p:txBody>
      </p:sp>
      <p:sp>
        <p:nvSpPr>
          <p:cNvPr id="12" name="Shape 9"/>
          <p:cNvSpPr/>
          <p:nvPr/>
        </p:nvSpPr>
        <p:spPr>
          <a:xfrm>
            <a:off x="7973568" y="3364992"/>
            <a:ext cx="384048" cy="384048"/>
          </a:xfrm>
          <a:prstGeom prst="ellipse">
            <a:avLst/>
          </a:prstGeom>
          <a:solidFill>
            <a:srgbClr val="FFD54A"/>
          </a:solidFill>
          <a:ln w="12700">
            <a:solidFill>
              <a:srgbClr val="FFD54A">
                <a:alpha val="0"/>
              </a:srgbClr>
            </a:solidFill>
            <a:prstDash val="solid"/>
          </a:ln>
        </p:spPr>
      </p:sp>
      <p:sp>
        <p:nvSpPr>
          <p:cNvPr id="13" name="Text 10"/>
          <p:cNvSpPr/>
          <p:nvPr/>
        </p:nvSpPr>
        <p:spPr>
          <a:xfrm>
            <a:off x="7973568" y="3378708"/>
            <a:ext cx="384048" cy="310896"/>
          </a:xfrm>
          <a:prstGeom prst="rect">
            <a:avLst/>
          </a:prstGeom>
          <a:noFill/>
          <a:ln/>
        </p:spPr>
        <p:txBody>
          <a:bodyPr wrap="square" lIns="0" tIns="0" rIns="0" bIns="0" rtlCol="0" anchor="ctr">
            <a:normAutofit/>
          </a:bodyPr>
          <a:lstStyle/>
          <a:p>
            <a:pPr algn="ctr" indent="0" marL="0">
              <a:buNone/>
            </a:pPr>
            <a:r>
              <a:rPr lang="en-US" sz="1200" b="1" dirty="0">
                <a:solidFill>
                  <a:srgbClr val="0E1B2C"/>
                </a:solidFill>
                <a:latin typeface="Inter" pitchFamily="34" charset="0"/>
                <a:ea typeface="Inter" pitchFamily="34" charset="-122"/>
                <a:cs typeface="Inter" pitchFamily="34" charset="-120"/>
              </a:rPr>
              <a:t>2</a:t>
            </a:r>
            <a:endParaRPr lang="en-US" sz="1200" dirty="0"/>
          </a:p>
        </p:txBody>
      </p:sp>
      <p:sp>
        <p:nvSpPr>
          <p:cNvPr id="14" name="Text 11"/>
          <p:cNvSpPr/>
          <p:nvPr/>
        </p:nvSpPr>
        <p:spPr>
          <a:xfrm>
            <a:off x="8503920" y="3351276"/>
            <a:ext cx="2907792" cy="274320"/>
          </a:xfrm>
          <a:prstGeom prst="rect">
            <a:avLst/>
          </a:prstGeom>
          <a:noFill/>
          <a:ln/>
        </p:spPr>
        <p:txBody>
          <a:bodyPr wrap="square" lIns="0" tIns="0" rIns="0" bIns="0" rtlCol="0" anchor="ctr">
            <a:normAutofit/>
          </a:bodyPr>
          <a:lstStyle/>
          <a:p>
            <a:pPr algn="l" indent="0" marL="0">
              <a:buNone/>
            </a:pPr>
            <a:r>
              <a:rPr lang="en-US" sz="1520" b="1" dirty="0">
                <a:solidFill>
                  <a:srgbClr val="0E1B2C"/>
                </a:solidFill>
                <a:latin typeface="Inter" pitchFamily="34" charset="0"/>
                <a:ea typeface="Inter" pitchFamily="34" charset="-122"/>
                <a:cs typeface="Inter" pitchFamily="34" charset="-120"/>
              </a:rPr>
              <a:t>A business finds a match</a:t>
            </a:r>
            <a:endParaRPr lang="en-US" sz="1520" dirty="0"/>
          </a:p>
        </p:txBody>
      </p:sp>
      <p:sp>
        <p:nvSpPr>
          <p:cNvPr id="15" name="Text 12"/>
          <p:cNvSpPr/>
          <p:nvPr/>
        </p:nvSpPr>
        <p:spPr>
          <a:xfrm>
            <a:off x="8503920" y="3675888"/>
            <a:ext cx="2880360" cy="448056"/>
          </a:xfrm>
          <a:prstGeom prst="rect">
            <a:avLst/>
          </a:prstGeom>
          <a:noFill/>
          <a:ln/>
        </p:spPr>
        <p:txBody>
          <a:bodyPr wrap="square" lIns="0" tIns="0" rIns="0" bIns="0" rtlCol="0" anchor="t">
            <a:normAutofit/>
          </a:bodyPr>
          <a:lstStyle/>
          <a:p>
            <a:pPr algn="l" indent="0" marL="0">
              <a:buNone/>
            </a:pPr>
            <a:r>
              <a:rPr lang="en-US" sz="1180" dirty="0">
                <a:solidFill>
                  <a:srgbClr val="5B6B7E"/>
                </a:solidFill>
                <a:latin typeface="Inter" pitchFamily="34" charset="0"/>
                <a:ea typeface="Inter" pitchFamily="34" charset="-122"/>
                <a:cs typeface="Inter" pitchFamily="34" charset="-120"/>
              </a:rPr>
              <a:t>For example, a café needs an ordering tool.</a:t>
            </a:r>
            <a:endParaRPr lang="en-US" sz="1180" dirty="0"/>
          </a:p>
        </p:txBody>
      </p:sp>
      <p:sp>
        <p:nvSpPr>
          <p:cNvPr id="16" name="Shape 13"/>
          <p:cNvSpPr/>
          <p:nvPr/>
        </p:nvSpPr>
        <p:spPr>
          <a:xfrm>
            <a:off x="7973568" y="4398264"/>
            <a:ext cx="384048" cy="384048"/>
          </a:xfrm>
          <a:prstGeom prst="ellipse">
            <a:avLst/>
          </a:prstGeom>
          <a:solidFill>
            <a:srgbClr val="0B7A6E"/>
          </a:solidFill>
          <a:ln w="12700">
            <a:solidFill>
              <a:srgbClr val="0B7A6E">
                <a:alpha val="0"/>
              </a:srgbClr>
            </a:solidFill>
            <a:prstDash val="solid"/>
          </a:ln>
        </p:spPr>
      </p:sp>
      <p:sp>
        <p:nvSpPr>
          <p:cNvPr id="17" name="Text 14"/>
          <p:cNvSpPr/>
          <p:nvPr/>
        </p:nvSpPr>
        <p:spPr>
          <a:xfrm>
            <a:off x="7973568" y="4411980"/>
            <a:ext cx="384048" cy="31089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Inter" pitchFamily="34" charset="0"/>
                <a:ea typeface="Inter" pitchFamily="34" charset="-122"/>
                <a:cs typeface="Inter" pitchFamily="34" charset="-120"/>
              </a:rPr>
              <a:t>3</a:t>
            </a:r>
            <a:endParaRPr lang="en-US" sz="1200" dirty="0"/>
          </a:p>
        </p:txBody>
      </p:sp>
      <p:sp>
        <p:nvSpPr>
          <p:cNvPr id="18" name="Text 15"/>
          <p:cNvSpPr/>
          <p:nvPr/>
        </p:nvSpPr>
        <p:spPr>
          <a:xfrm>
            <a:off x="8503920" y="4384548"/>
            <a:ext cx="2907792" cy="274320"/>
          </a:xfrm>
          <a:prstGeom prst="rect">
            <a:avLst/>
          </a:prstGeom>
          <a:noFill/>
          <a:ln/>
        </p:spPr>
        <p:txBody>
          <a:bodyPr wrap="square" lIns="0" tIns="0" rIns="0" bIns="0" rtlCol="0" anchor="ctr">
            <a:normAutofit/>
          </a:bodyPr>
          <a:lstStyle/>
          <a:p>
            <a:pPr algn="l" indent="0" marL="0">
              <a:buNone/>
            </a:pPr>
            <a:r>
              <a:rPr lang="en-US" sz="1520" b="1" dirty="0">
                <a:solidFill>
                  <a:srgbClr val="0E1B2C"/>
                </a:solidFill>
                <a:latin typeface="Inter" pitchFamily="34" charset="0"/>
                <a:ea typeface="Inter" pitchFamily="34" charset="-122"/>
                <a:cs typeface="Inter" pitchFamily="34" charset="-120"/>
              </a:rPr>
              <a:t>They agree on changes</a:t>
            </a:r>
            <a:endParaRPr lang="en-US" sz="1520" dirty="0"/>
          </a:p>
        </p:txBody>
      </p:sp>
      <p:sp>
        <p:nvSpPr>
          <p:cNvPr id="19" name="Text 16"/>
          <p:cNvSpPr/>
          <p:nvPr/>
        </p:nvSpPr>
        <p:spPr>
          <a:xfrm>
            <a:off x="8503920" y="4709160"/>
            <a:ext cx="2880360" cy="448056"/>
          </a:xfrm>
          <a:prstGeom prst="rect">
            <a:avLst/>
          </a:prstGeom>
          <a:noFill/>
          <a:ln/>
        </p:spPr>
        <p:txBody>
          <a:bodyPr wrap="square" lIns="0" tIns="0" rIns="0" bIns="0" rtlCol="0" anchor="t">
            <a:normAutofit/>
          </a:bodyPr>
          <a:lstStyle/>
          <a:p>
            <a:pPr algn="l" indent="0" marL="0">
              <a:buNone/>
            </a:pPr>
            <a:r>
              <a:rPr lang="en-US" sz="1180" dirty="0">
                <a:solidFill>
                  <a:srgbClr val="5B6B7E"/>
                </a:solidFill>
                <a:latin typeface="Inter" pitchFamily="34" charset="0"/>
                <a:ea typeface="Inter" pitchFamily="34" charset="-122"/>
                <a:cs typeface="Inter" pitchFamily="34" charset="-120"/>
              </a:rPr>
              <a:t>The student adapts the project for that buyer.</a:t>
            </a:r>
            <a:endParaRPr lang="en-US" sz="1180" dirty="0"/>
          </a:p>
        </p:txBody>
      </p:sp>
      <p:sp>
        <p:nvSpPr>
          <p:cNvPr id="20" name="Shape 17"/>
          <p:cNvSpPr/>
          <p:nvPr/>
        </p:nvSpPr>
        <p:spPr>
          <a:xfrm>
            <a:off x="640080" y="5586984"/>
            <a:ext cx="7004304" cy="493776"/>
          </a:xfrm>
          <a:prstGeom prst="roundRect">
            <a:avLst>
              <a:gd name="adj" fmla="val 18519"/>
            </a:avLst>
          </a:prstGeom>
          <a:solidFill>
            <a:srgbClr val="E5F4F1"/>
          </a:solidFill>
          <a:ln w="7620">
            <a:solidFill>
              <a:srgbClr val="E5F4F1">
                <a:alpha val="0"/>
              </a:srgbClr>
            </a:solidFill>
            <a:prstDash val="solid"/>
          </a:ln>
        </p:spPr>
      </p:sp>
      <p:sp>
        <p:nvSpPr>
          <p:cNvPr id="21" name="Text 18"/>
          <p:cNvSpPr/>
          <p:nvPr/>
        </p:nvSpPr>
        <p:spPr>
          <a:xfrm>
            <a:off x="822960" y="5669280"/>
            <a:ext cx="6620256" cy="265176"/>
          </a:xfrm>
          <a:prstGeom prst="rect">
            <a:avLst/>
          </a:prstGeom>
          <a:noFill/>
          <a:ln/>
        </p:spPr>
        <p:txBody>
          <a:bodyPr wrap="square" lIns="0" tIns="0" rIns="0" bIns="0" rtlCol="0" anchor="ctr">
            <a:normAutofit/>
          </a:bodyPr>
          <a:lstStyle/>
          <a:p>
            <a:pPr algn="l" indent="0" marL="0">
              <a:buNone/>
            </a:pPr>
            <a:r>
              <a:rPr lang="en-US" sz="1230" b="1" dirty="0">
                <a:solidFill>
                  <a:srgbClr val="0B7A6E"/>
                </a:solidFill>
                <a:latin typeface="Inter" pitchFamily="34" charset="0"/>
                <a:ea typeface="Inter" pitchFamily="34" charset="-122"/>
                <a:cs typeface="Inter" pitchFamily="34" charset="-120"/>
              </a:rPr>
              <a:t>TableTap QR Ordering · RM480 starter price shown in the demo</a:t>
            </a:r>
            <a:endParaRPr lang="en-US" sz="1230" dirty="0"/>
          </a:p>
        </p:txBody>
      </p:sp>
      <p:sp>
        <p:nvSpPr>
          <p:cNvPr id="22" name="Text 19"/>
          <p:cNvSpPr/>
          <p:nvPr/>
        </p:nvSpPr>
        <p:spPr>
          <a:xfrm>
            <a:off x="7973568" y="5669280"/>
            <a:ext cx="3611880" cy="292608"/>
          </a:xfrm>
          <a:prstGeom prst="rect">
            <a:avLst/>
          </a:prstGeom>
          <a:noFill/>
          <a:ln/>
        </p:spPr>
        <p:txBody>
          <a:bodyPr wrap="square" lIns="0" tIns="0" rIns="0" bIns="0" rtlCol="0" anchor="ctr">
            <a:normAutofit/>
          </a:bodyPr>
          <a:lstStyle/>
          <a:p>
            <a:pPr algn="l" indent="0" marL="0">
              <a:buNone/>
            </a:pPr>
            <a:r>
              <a:rPr lang="en-US" sz="1340" b="1" dirty="0">
                <a:solidFill>
                  <a:srgbClr val="0B7A6E"/>
                </a:solidFill>
                <a:latin typeface="Inter" pitchFamily="34" charset="0"/>
                <a:ea typeface="Inter" pitchFamily="34" charset="-122"/>
                <a:cs typeface="Inter" pitchFamily="34" charset="-120"/>
              </a:rPr>
              <a:t>No need to start from a blank page.</a:t>
            </a:r>
            <a:endParaRPr lang="en-US" sz="1340" dirty="0"/>
          </a:p>
        </p:txBody>
      </p:sp>
      <p:sp>
        <p:nvSpPr>
          <p:cNvPr id="23" name="Shape 20"/>
          <p:cNvSpPr/>
          <p:nvPr/>
        </p:nvSpPr>
        <p:spPr>
          <a:xfrm>
            <a:off x="594360" y="6483096"/>
            <a:ext cx="11000232" cy="0"/>
          </a:xfrm>
          <a:prstGeom prst="line">
            <a:avLst/>
          </a:prstGeom>
          <a:noFill/>
          <a:ln w="7620">
            <a:solidFill>
              <a:srgbClr val="DCE4EB"/>
            </a:solidFill>
            <a:prstDash val="solid"/>
            <a:headEnd type="none"/>
            <a:tailEnd type="none"/>
          </a:ln>
        </p:spPr>
      </p:sp>
      <p:sp>
        <p:nvSpPr>
          <p:cNvPr id="24" name="Text 21"/>
          <p:cNvSpPr/>
          <p:nvPr/>
        </p:nvSpPr>
        <p:spPr>
          <a:xfrm>
            <a:off x="621792" y="6547104"/>
            <a:ext cx="4114800" cy="137160"/>
          </a:xfrm>
          <a:prstGeom prst="rect">
            <a:avLst/>
          </a:prstGeom>
          <a:noFill/>
          <a:ln/>
        </p:spPr>
        <p:txBody>
          <a:bodyPr wrap="square" lIns="0" tIns="0" rIns="0" bIns="0" rtlCol="0" anchor="ctr">
            <a:normAutofit/>
          </a:bodyPr>
          <a:lstStyle/>
          <a:p>
            <a:pPr algn="l" indent="0" marL="0">
              <a:buNone/>
            </a:pPr>
            <a:r>
              <a:rPr lang="en-US" sz="750" spc="110" kern="0" dirty="0">
                <a:solidFill>
                  <a:srgbClr val="738294"/>
                </a:solidFill>
                <a:latin typeface="Inter" pitchFamily="34" charset="0"/>
                <a:ea typeface="Inter" pitchFamily="34" charset="-122"/>
                <a:cs typeface="Inter" pitchFamily="34" charset="-120"/>
              </a:rPr>
              <a:t>UNIBIZ  ·  CAMPUS TO COMMERCE</a:t>
            </a:r>
            <a:endParaRPr lang="en-US" sz="750" dirty="0"/>
          </a:p>
        </p:txBody>
      </p:sp>
      <p:sp>
        <p:nvSpPr>
          <p:cNvPr id="25" name="Text 22"/>
          <p:cNvSpPr/>
          <p:nvPr/>
        </p:nvSpPr>
        <p:spPr>
          <a:xfrm>
            <a:off x="11009376" y="6537960"/>
            <a:ext cx="566928" cy="164592"/>
          </a:xfrm>
          <a:prstGeom prst="rect">
            <a:avLst/>
          </a:prstGeom>
          <a:noFill/>
          <a:ln/>
        </p:spPr>
        <p:txBody>
          <a:bodyPr wrap="square" lIns="0" tIns="0" rIns="0" bIns="0" rtlCol="0" anchor="ctr">
            <a:normAutofit/>
          </a:bodyPr>
          <a:lstStyle/>
          <a:p>
            <a:pPr algn="r" indent="0" marL="0">
              <a:buNone/>
            </a:pPr>
            <a:r>
              <a:rPr lang="en-US" sz="800" dirty="0">
                <a:solidFill>
                  <a:srgbClr val="738294"/>
                </a:solidFill>
                <a:latin typeface="Inter" pitchFamily="34" charset="0"/>
                <a:ea typeface="Inter" pitchFamily="34" charset="-122"/>
                <a:cs typeface="Inter" pitchFamily="34" charset="-120"/>
              </a:rPr>
              <a:t>3 / 5</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621792" y="329184"/>
            <a:ext cx="5669280" cy="219456"/>
          </a:xfrm>
          <a:prstGeom prst="rect">
            <a:avLst/>
          </a:prstGeom>
          <a:noFill/>
          <a:ln/>
        </p:spPr>
        <p:txBody>
          <a:bodyPr wrap="square" lIns="0" tIns="0" rIns="0" bIns="0" rtlCol="0" anchor="ctr">
            <a:normAutofit/>
          </a:bodyPr>
          <a:lstStyle/>
          <a:p>
            <a:pPr algn="l" indent="0" marL="0">
              <a:buNone/>
            </a:pPr>
            <a:r>
              <a:rPr lang="en-US" sz="900" b="1" spc="150" kern="0" dirty="0">
                <a:solidFill>
                  <a:srgbClr val="0B7A6E"/>
                </a:solidFill>
                <a:latin typeface="Inter" pitchFamily="34" charset="0"/>
                <a:ea typeface="Inter" pitchFamily="34" charset="-122"/>
                <a:cs typeface="Inter" pitchFamily="34" charset="-120"/>
              </a:rPr>
              <a:t>SMARTER COLLABORATION</a:t>
            </a:r>
            <a:endParaRPr lang="en-US" sz="900" dirty="0"/>
          </a:p>
        </p:txBody>
      </p:sp>
      <p:sp>
        <p:nvSpPr>
          <p:cNvPr id="3" name="Text 1"/>
          <p:cNvSpPr/>
          <p:nvPr/>
        </p:nvSpPr>
        <p:spPr>
          <a:xfrm>
            <a:off x="603504" y="640080"/>
            <a:ext cx="10972800" cy="475488"/>
          </a:xfrm>
          <a:prstGeom prst="rect">
            <a:avLst/>
          </a:prstGeom>
          <a:noFill/>
          <a:ln/>
        </p:spPr>
        <p:txBody>
          <a:bodyPr wrap="square" lIns="0" tIns="0" rIns="0" bIns="0" rtlCol="0" anchor="ctr">
            <a:normAutofit/>
          </a:bodyPr>
          <a:lstStyle/>
          <a:p>
            <a:pPr algn="l" indent="0" marL="0">
              <a:buNone/>
            </a:pPr>
            <a:r>
              <a:rPr lang="en-US" sz="2850" b="1" dirty="0">
                <a:solidFill>
                  <a:srgbClr val="0E1B2C"/>
                </a:solidFill>
                <a:latin typeface="Inter" pitchFamily="34" charset="0"/>
                <a:ea typeface="Inter" pitchFamily="34" charset="-122"/>
                <a:cs typeface="Inter" pitchFamily="34" charset="-120"/>
              </a:rPr>
              <a:t>Professor Hoot helps with the next steps.</a:t>
            </a:r>
            <a:endParaRPr lang="en-US" sz="2850" dirty="0"/>
          </a:p>
        </p:txBody>
      </p:sp>
      <p:sp>
        <p:nvSpPr>
          <p:cNvPr id="4" name="Text 2"/>
          <p:cNvSpPr/>
          <p:nvPr/>
        </p:nvSpPr>
        <p:spPr>
          <a:xfrm>
            <a:off x="630936" y="1161288"/>
            <a:ext cx="10881360" cy="310896"/>
          </a:xfrm>
          <a:prstGeom prst="rect">
            <a:avLst/>
          </a:prstGeom>
          <a:noFill/>
          <a:ln/>
        </p:spPr>
        <p:txBody>
          <a:bodyPr wrap="square" lIns="0" tIns="0" rIns="0" bIns="0" rtlCol="0" anchor="t">
            <a:normAutofit/>
          </a:bodyPr>
          <a:lstStyle/>
          <a:p>
            <a:pPr algn="l" indent="0" marL="0">
              <a:buNone/>
            </a:pPr>
            <a:r>
              <a:rPr lang="en-US" sz="1330" dirty="0">
                <a:solidFill>
                  <a:srgbClr val="5B6B7E"/>
                </a:solidFill>
                <a:latin typeface="Inter" pitchFamily="34" charset="0"/>
                <a:ea typeface="Inter" pitchFamily="34" charset="-122"/>
                <a:cs typeface="Inter" pitchFamily="34" charset="-120"/>
              </a:rPr>
              <a:t>UniBiz supports buyers and students after they find a project.</a:t>
            </a:r>
            <a:endParaRPr lang="en-US" sz="1330" dirty="0"/>
          </a:p>
        </p:txBody>
      </p:sp>
      <p:sp>
        <p:nvSpPr>
          <p:cNvPr id="5" name="Shape 3"/>
          <p:cNvSpPr/>
          <p:nvPr/>
        </p:nvSpPr>
        <p:spPr>
          <a:xfrm>
            <a:off x="589788" y="1641348"/>
            <a:ext cx="7059168" cy="4435754"/>
          </a:xfrm>
          <a:prstGeom prst="roundRect">
            <a:avLst>
              <a:gd name="adj" fmla="val 2061"/>
            </a:avLst>
          </a:prstGeom>
          <a:solidFill>
            <a:srgbClr val="FFFFFF"/>
          </a:solidFill>
          <a:ln w="10160">
            <a:solidFill>
              <a:srgbClr val="D7E0E8"/>
            </a:solidFill>
            <a:prstDash val="solid"/>
          </a:ln>
          <a:effectLst>
            <a:outerShdw sx="100000" sy="100000" kx="0" ky="0" algn="bl" rotWithShape="0" blurRad="38100" dist="50800" dir="2700000">
              <a:srgbClr val="0B1E2D">
                <a:alpha val="12000"/>
              </a:srgbClr>
            </a:outerShdw>
          </a:effectLst>
        </p:spPr>
      </p:sp>
      <p:pic>
        <p:nvPicPr>
          <p:cNvPr id="6" name="Image 0" descr="/mnt/data/unibiz_appshots/reports_ui.png">    </p:cNvPr>
          <p:cNvPicPr>
            <a:picLocks noChangeAspect="1"/>
          </p:cNvPicPr>
          <p:nvPr/>
        </p:nvPicPr>
        <p:blipFill>
          <a:blip r:embed="rId1"/>
          <a:stretch>
            <a:fillRect/>
          </a:stretch>
        </p:blipFill>
        <p:spPr>
          <a:xfrm>
            <a:off x="621792" y="1673352"/>
            <a:ext cx="6995160" cy="4371746"/>
          </a:xfrm>
          <a:prstGeom prst="rect">
            <a:avLst/>
          </a:prstGeom>
        </p:spPr>
      </p:pic>
      <p:sp>
        <p:nvSpPr>
          <p:cNvPr id="7" name="Text 4"/>
          <p:cNvSpPr/>
          <p:nvPr/>
        </p:nvSpPr>
        <p:spPr>
          <a:xfrm>
            <a:off x="7982712" y="1828800"/>
            <a:ext cx="3429000" cy="201168"/>
          </a:xfrm>
          <a:prstGeom prst="rect">
            <a:avLst/>
          </a:prstGeom>
          <a:noFill/>
          <a:ln/>
        </p:spPr>
        <p:txBody>
          <a:bodyPr wrap="square" lIns="0" tIns="0" rIns="0" bIns="0" rtlCol="0" anchor="ctr">
            <a:normAutofit/>
          </a:bodyPr>
          <a:lstStyle/>
          <a:p>
            <a:pPr algn="l" indent="0" marL="0">
              <a:buNone/>
            </a:pPr>
            <a:r>
              <a:rPr lang="en-US" sz="900" b="1" spc="140" kern="0" dirty="0">
                <a:solidFill>
                  <a:srgbClr val="0B7A6E"/>
                </a:solidFill>
                <a:latin typeface="Inter" pitchFamily="34" charset="0"/>
                <a:ea typeface="Inter" pitchFamily="34" charset="-122"/>
                <a:cs typeface="Inter" pitchFamily="34" charset="-120"/>
              </a:rPr>
              <a:t>PROFESSOR HOOT</a:t>
            </a:r>
            <a:endParaRPr lang="en-US" sz="900" dirty="0"/>
          </a:p>
        </p:txBody>
      </p:sp>
      <p:sp>
        <p:nvSpPr>
          <p:cNvPr id="8" name="Shape 5"/>
          <p:cNvSpPr/>
          <p:nvPr/>
        </p:nvSpPr>
        <p:spPr>
          <a:xfrm>
            <a:off x="8001000" y="2176272"/>
            <a:ext cx="201168" cy="201168"/>
          </a:xfrm>
          <a:prstGeom prst="ellipse">
            <a:avLst/>
          </a:prstGeom>
          <a:solidFill>
            <a:srgbClr val="0B7A6E"/>
          </a:solidFill>
          <a:ln w="12700">
            <a:solidFill>
              <a:srgbClr val="0B7A6E">
                <a:alpha val="0"/>
              </a:srgbClr>
            </a:solidFill>
            <a:prstDash val="solid"/>
          </a:ln>
        </p:spPr>
      </p:sp>
      <p:sp>
        <p:nvSpPr>
          <p:cNvPr id="9" name="Text 6"/>
          <p:cNvSpPr/>
          <p:nvPr/>
        </p:nvSpPr>
        <p:spPr>
          <a:xfrm>
            <a:off x="8348472" y="2148840"/>
            <a:ext cx="3182112" cy="256032"/>
          </a:xfrm>
          <a:prstGeom prst="rect">
            <a:avLst/>
          </a:prstGeom>
          <a:noFill/>
          <a:ln/>
        </p:spPr>
        <p:txBody>
          <a:bodyPr wrap="square" lIns="0" tIns="0" rIns="0" bIns="0" rtlCol="0" anchor="ctr">
            <a:normAutofit/>
          </a:bodyPr>
          <a:lstStyle/>
          <a:p>
            <a:pPr algn="l" indent="0" marL="0">
              <a:buNone/>
            </a:pPr>
            <a:r>
              <a:rPr lang="en-US" sz="1500" b="1" dirty="0">
                <a:solidFill>
                  <a:srgbClr val="0E1B2C"/>
                </a:solidFill>
                <a:latin typeface="Inter" pitchFamily="34" charset="0"/>
                <a:ea typeface="Inter" pitchFamily="34" charset="-122"/>
                <a:cs typeface="Inter" pitchFamily="34" charset="-120"/>
              </a:rPr>
              <a:t>Find matches</a:t>
            </a:r>
            <a:endParaRPr lang="en-US" sz="1500" dirty="0"/>
          </a:p>
        </p:txBody>
      </p:sp>
      <p:sp>
        <p:nvSpPr>
          <p:cNvPr id="10" name="Text 7"/>
          <p:cNvSpPr/>
          <p:nvPr/>
        </p:nvSpPr>
        <p:spPr>
          <a:xfrm>
            <a:off x="8348472" y="2441448"/>
            <a:ext cx="3246120" cy="393192"/>
          </a:xfrm>
          <a:prstGeom prst="rect">
            <a:avLst/>
          </a:prstGeom>
          <a:noFill/>
          <a:ln/>
        </p:spPr>
        <p:txBody>
          <a:bodyPr wrap="square" lIns="0" tIns="0" rIns="0" bIns="0" rtlCol="0" anchor="t">
            <a:normAutofit/>
          </a:bodyPr>
          <a:lstStyle/>
          <a:p>
            <a:pPr algn="l" indent="0" marL="0">
              <a:buNone/>
            </a:pPr>
            <a:r>
              <a:rPr lang="en-US" sz="1150" dirty="0">
                <a:solidFill>
                  <a:srgbClr val="5B6B7E"/>
                </a:solidFill>
                <a:latin typeface="Inter" pitchFamily="34" charset="0"/>
                <a:ea typeface="Inter" pitchFamily="34" charset="-122"/>
                <a:cs typeface="Inter" pitchFamily="34" charset="-120"/>
              </a:rPr>
              <a:t>Recommends projects based on buyer needs.</a:t>
            </a:r>
            <a:endParaRPr lang="en-US" sz="1150" dirty="0"/>
          </a:p>
        </p:txBody>
      </p:sp>
      <p:sp>
        <p:nvSpPr>
          <p:cNvPr id="11" name="Shape 8"/>
          <p:cNvSpPr/>
          <p:nvPr/>
        </p:nvSpPr>
        <p:spPr>
          <a:xfrm>
            <a:off x="8001000" y="3008376"/>
            <a:ext cx="201168" cy="201168"/>
          </a:xfrm>
          <a:prstGeom prst="ellipse">
            <a:avLst/>
          </a:prstGeom>
          <a:solidFill>
            <a:srgbClr val="0B7A6E"/>
          </a:solidFill>
          <a:ln w="12700">
            <a:solidFill>
              <a:srgbClr val="0B7A6E">
                <a:alpha val="0"/>
              </a:srgbClr>
            </a:solidFill>
            <a:prstDash val="solid"/>
          </a:ln>
        </p:spPr>
      </p:sp>
      <p:sp>
        <p:nvSpPr>
          <p:cNvPr id="12" name="Text 9"/>
          <p:cNvSpPr/>
          <p:nvPr/>
        </p:nvSpPr>
        <p:spPr>
          <a:xfrm>
            <a:off x="8348472" y="2980944"/>
            <a:ext cx="3182112" cy="256032"/>
          </a:xfrm>
          <a:prstGeom prst="rect">
            <a:avLst/>
          </a:prstGeom>
          <a:noFill/>
          <a:ln/>
        </p:spPr>
        <p:txBody>
          <a:bodyPr wrap="square" lIns="0" tIns="0" rIns="0" bIns="0" rtlCol="0" anchor="ctr">
            <a:normAutofit/>
          </a:bodyPr>
          <a:lstStyle/>
          <a:p>
            <a:pPr algn="l" indent="0" marL="0">
              <a:buNone/>
            </a:pPr>
            <a:r>
              <a:rPr lang="en-US" sz="1500" b="1" dirty="0">
                <a:solidFill>
                  <a:srgbClr val="0E1B2C"/>
                </a:solidFill>
                <a:latin typeface="Inter" pitchFamily="34" charset="0"/>
                <a:ea typeface="Inter" pitchFamily="34" charset="-122"/>
                <a:cs typeface="Inter" pitchFamily="34" charset="-120"/>
              </a:rPr>
              <a:t>Draft messages</a:t>
            </a:r>
            <a:endParaRPr lang="en-US" sz="1500" dirty="0"/>
          </a:p>
        </p:txBody>
      </p:sp>
      <p:sp>
        <p:nvSpPr>
          <p:cNvPr id="13" name="Text 10"/>
          <p:cNvSpPr/>
          <p:nvPr/>
        </p:nvSpPr>
        <p:spPr>
          <a:xfrm>
            <a:off x="8348472" y="3273552"/>
            <a:ext cx="3246120" cy="393192"/>
          </a:xfrm>
          <a:prstGeom prst="rect">
            <a:avLst/>
          </a:prstGeom>
          <a:noFill/>
          <a:ln/>
        </p:spPr>
        <p:txBody>
          <a:bodyPr wrap="square" lIns="0" tIns="0" rIns="0" bIns="0" rtlCol="0" anchor="t">
            <a:normAutofit/>
          </a:bodyPr>
          <a:lstStyle/>
          <a:p>
            <a:pPr algn="l" indent="0" marL="0">
              <a:buNone/>
            </a:pPr>
            <a:r>
              <a:rPr lang="en-US" sz="1150" dirty="0">
                <a:solidFill>
                  <a:srgbClr val="5B6B7E"/>
                </a:solidFill>
                <a:latin typeface="Inter" pitchFamily="34" charset="0"/>
                <a:ea typeface="Inter" pitchFamily="34" charset="-122"/>
                <a:cs typeface="Inter" pitchFamily="34" charset="-120"/>
              </a:rPr>
              <a:t>Helps start a conversation; the buyer can review it first.</a:t>
            </a:r>
            <a:endParaRPr lang="en-US" sz="1150" dirty="0"/>
          </a:p>
        </p:txBody>
      </p:sp>
      <p:sp>
        <p:nvSpPr>
          <p:cNvPr id="14" name="Shape 11"/>
          <p:cNvSpPr/>
          <p:nvPr/>
        </p:nvSpPr>
        <p:spPr>
          <a:xfrm>
            <a:off x="8001000" y="3840480"/>
            <a:ext cx="201168" cy="201168"/>
          </a:xfrm>
          <a:prstGeom prst="ellipse">
            <a:avLst/>
          </a:prstGeom>
          <a:solidFill>
            <a:srgbClr val="FFD54A"/>
          </a:solidFill>
          <a:ln w="12700">
            <a:solidFill>
              <a:srgbClr val="FFD54A">
                <a:alpha val="0"/>
              </a:srgbClr>
            </a:solidFill>
            <a:prstDash val="solid"/>
          </a:ln>
        </p:spPr>
      </p:sp>
      <p:sp>
        <p:nvSpPr>
          <p:cNvPr id="15" name="Text 12"/>
          <p:cNvSpPr/>
          <p:nvPr/>
        </p:nvSpPr>
        <p:spPr>
          <a:xfrm>
            <a:off x="8348472" y="3813048"/>
            <a:ext cx="3182112" cy="256032"/>
          </a:xfrm>
          <a:prstGeom prst="rect">
            <a:avLst/>
          </a:prstGeom>
          <a:noFill/>
          <a:ln/>
        </p:spPr>
        <p:txBody>
          <a:bodyPr wrap="square" lIns="0" tIns="0" rIns="0" bIns="0" rtlCol="0" anchor="ctr">
            <a:normAutofit/>
          </a:bodyPr>
          <a:lstStyle/>
          <a:p>
            <a:pPr algn="l" indent="0" marL="0">
              <a:buNone/>
            </a:pPr>
            <a:r>
              <a:rPr lang="en-US" sz="1500" b="1" dirty="0">
                <a:solidFill>
                  <a:srgbClr val="0E1B2C"/>
                </a:solidFill>
                <a:latin typeface="Inter" pitchFamily="34" charset="0"/>
                <a:ea typeface="Inter" pitchFamily="34" charset="-122"/>
                <a:cs typeface="Inter" pitchFamily="34" charset="-120"/>
              </a:rPr>
              <a:t>Review delivery</a:t>
            </a:r>
            <a:endParaRPr lang="en-US" sz="1500" dirty="0"/>
          </a:p>
        </p:txBody>
      </p:sp>
      <p:sp>
        <p:nvSpPr>
          <p:cNvPr id="16" name="Text 13"/>
          <p:cNvSpPr/>
          <p:nvPr/>
        </p:nvSpPr>
        <p:spPr>
          <a:xfrm>
            <a:off x="8348472" y="4105656"/>
            <a:ext cx="3246120" cy="393192"/>
          </a:xfrm>
          <a:prstGeom prst="rect">
            <a:avLst/>
          </a:prstGeom>
          <a:noFill/>
          <a:ln/>
        </p:spPr>
        <p:txBody>
          <a:bodyPr wrap="square" lIns="0" tIns="0" rIns="0" bIns="0" rtlCol="0" anchor="t">
            <a:normAutofit/>
          </a:bodyPr>
          <a:lstStyle/>
          <a:p>
            <a:pPr algn="l" indent="0" marL="0">
              <a:buNone/>
            </a:pPr>
            <a:r>
              <a:rPr lang="en-US" sz="1150" dirty="0">
                <a:solidFill>
                  <a:srgbClr val="5B6B7E"/>
                </a:solidFill>
                <a:latin typeface="Inter" pitchFamily="34" charset="0"/>
                <a:ea typeface="Inter" pitchFamily="34" charset="-122"/>
                <a:cs typeface="Inter" pitchFamily="34" charset="-120"/>
              </a:rPr>
              <a:t>Shows what works, what is missing and what to fix next.</a:t>
            </a:r>
            <a:endParaRPr lang="en-US" sz="1150" dirty="0"/>
          </a:p>
        </p:txBody>
      </p:sp>
      <p:sp>
        <p:nvSpPr>
          <p:cNvPr id="17" name="Shape 14"/>
          <p:cNvSpPr/>
          <p:nvPr/>
        </p:nvSpPr>
        <p:spPr>
          <a:xfrm>
            <a:off x="8001000" y="4672584"/>
            <a:ext cx="201168" cy="201168"/>
          </a:xfrm>
          <a:prstGeom prst="ellipse">
            <a:avLst/>
          </a:prstGeom>
          <a:solidFill>
            <a:srgbClr val="0B7A6E"/>
          </a:solidFill>
          <a:ln w="12700">
            <a:solidFill>
              <a:srgbClr val="0B7A6E">
                <a:alpha val="0"/>
              </a:srgbClr>
            </a:solidFill>
            <a:prstDash val="solid"/>
          </a:ln>
        </p:spPr>
      </p:sp>
      <p:sp>
        <p:nvSpPr>
          <p:cNvPr id="18" name="Text 15"/>
          <p:cNvSpPr/>
          <p:nvPr/>
        </p:nvSpPr>
        <p:spPr>
          <a:xfrm>
            <a:off x="8348472" y="4645152"/>
            <a:ext cx="3182112" cy="256032"/>
          </a:xfrm>
          <a:prstGeom prst="rect">
            <a:avLst/>
          </a:prstGeom>
          <a:noFill/>
          <a:ln/>
        </p:spPr>
        <p:txBody>
          <a:bodyPr wrap="square" lIns="0" tIns="0" rIns="0" bIns="0" rtlCol="0" anchor="ctr">
            <a:normAutofit/>
          </a:bodyPr>
          <a:lstStyle/>
          <a:p>
            <a:pPr algn="l" indent="0" marL="0">
              <a:buNone/>
            </a:pPr>
            <a:r>
              <a:rPr lang="en-US" sz="1500" b="1" dirty="0">
                <a:solidFill>
                  <a:srgbClr val="0E1B2C"/>
                </a:solidFill>
                <a:latin typeface="Inter" pitchFamily="34" charset="0"/>
                <a:ea typeface="Inter" pitchFamily="34" charset="-122"/>
                <a:cs typeface="Inter" pitchFamily="34" charset="-120"/>
              </a:rPr>
              <a:t>Keep things organised</a:t>
            </a:r>
            <a:endParaRPr lang="en-US" sz="1500" dirty="0"/>
          </a:p>
        </p:txBody>
      </p:sp>
      <p:sp>
        <p:nvSpPr>
          <p:cNvPr id="19" name="Text 16"/>
          <p:cNvSpPr/>
          <p:nvPr/>
        </p:nvSpPr>
        <p:spPr>
          <a:xfrm>
            <a:off x="8348472" y="4937760"/>
            <a:ext cx="3246120" cy="393192"/>
          </a:xfrm>
          <a:prstGeom prst="rect">
            <a:avLst/>
          </a:prstGeom>
          <a:noFill/>
          <a:ln/>
        </p:spPr>
        <p:txBody>
          <a:bodyPr wrap="square" lIns="0" tIns="0" rIns="0" bIns="0" rtlCol="0" anchor="t">
            <a:normAutofit/>
          </a:bodyPr>
          <a:lstStyle/>
          <a:p>
            <a:pPr algn="l" indent="0" marL="0">
              <a:buNone/>
            </a:pPr>
            <a:r>
              <a:rPr lang="en-US" sz="1150" dirty="0">
                <a:solidFill>
                  <a:srgbClr val="5B6B7E"/>
                </a:solidFill>
                <a:latin typeface="Inter" pitchFamily="34" charset="0"/>
                <a:ea typeface="Inter" pitchFamily="34" charset="-122"/>
                <a:cs typeface="Inter" pitchFamily="34" charset="-120"/>
              </a:rPr>
              <a:t>Supports call summaries, calendar tasks and project history.</a:t>
            </a:r>
            <a:endParaRPr lang="en-US" sz="1150" dirty="0"/>
          </a:p>
        </p:txBody>
      </p:sp>
      <p:sp>
        <p:nvSpPr>
          <p:cNvPr id="20" name="Shape 17"/>
          <p:cNvSpPr/>
          <p:nvPr/>
        </p:nvSpPr>
        <p:spPr>
          <a:xfrm>
            <a:off x="7982712" y="5614416"/>
            <a:ext cx="3611880" cy="448056"/>
          </a:xfrm>
          <a:prstGeom prst="roundRect">
            <a:avLst>
              <a:gd name="adj" fmla="val 18367"/>
            </a:avLst>
          </a:prstGeom>
          <a:solidFill>
            <a:srgbClr val="0E1B2C"/>
          </a:solidFill>
          <a:ln w="7620">
            <a:solidFill>
              <a:srgbClr val="0E1B2C">
                <a:alpha val="0"/>
              </a:srgbClr>
            </a:solidFill>
            <a:prstDash val="solid"/>
          </a:ln>
        </p:spPr>
      </p:sp>
      <p:sp>
        <p:nvSpPr>
          <p:cNvPr id="21" name="Text 18"/>
          <p:cNvSpPr/>
          <p:nvPr/>
        </p:nvSpPr>
        <p:spPr>
          <a:xfrm>
            <a:off x="8138160" y="5687568"/>
            <a:ext cx="3300984" cy="256032"/>
          </a:xfrm>
          <a:prstGeom prst="rect">
            <a:avLst/>
          </a:prstGeom>
          <a:noFill/>
          <a:ln/>
        </p:spPr>
        <p:txBody>
          <a:bodyPr wrap="square" lIns="0" tIns="0" rIns="0" bIns="0" rtlCol="0" anchor="ctr">
            <a:normAutofit/>
          </a:bodyPr>
          <a:lstStyle/>
          <a:p>
            <a:pPr algn="ctr" indent="0" marL="0">
              <a:buNone/>
            </a:pPr>
            <a:r>
              <a:rPr lang="en-US" sz="1220" b="1" dirty="0">
                <a:solidFill>
                  <a:srgbClr val="FFFFFF"/>
                </a:solidFill>
                <a:latin typeface="Inter" pitchFamily="34" charset="0"/>
                <a:ea typeface="Inter" pitchFamily="34" charset="-122"/>
                <a:cs typeface="Inter" pitchFamily="34" charset="-120"/>
              </a:rPr>
              <a:t>Clearer next steps for both sides.</a:t>
            </a:r>
            <a:endParaRPr lang="en-US" sz="1220" dirty="0"/>
          </a:p>
        </p:txBody>
      </p:sp>
      <p:sp>
        <p:nvSpPr>
          <p:cNvPr id="22" name="Shape 19"/>
          <p:cNvSpPr/>
          <p:nvPr/>
        </p:nvSpPr>
        <p:spPr>
          <a:xfrm>
            <a:off x="594360" y="6483096"/>
            <a:ext cx="11000232" cy="0"/>
          </a:xfrm>
          <a:prstGeom prst="line">
            <a:avLst/>
          </a:prstGeom>
          <a:noFill/>
          <a:ln w="7620">
            <a:solidFill>
              <a:srgbClr val="DCE4EB"/>
            </a:solidFill>
            <a:prstDash val="solid"/>
            <a:headEnd type="none"/>
            <a:tailEnd type="none"/>
          </a:ln>
        </p:spPr>
      </p:sp>
      <p:sp>
        <p:nvSpPr>
          <p:cNvPr id="23" name="Text 20"/>
          <p:cNvSpPr/>
          <p:nvPr/>
        </p:nvSpPr>
        <p:spPr>
          <a:xfrm>
            <a:off x="621792" y="6547104"/>
            <a:ext cx="4114800" cy="137160"/>
          </a:xfrm>
          <a:prstGeom prst="rect">
            <a:avLst/>
          </a:prstGeom>
          <a:noFill/>
          <a:ln/>
        </p:spPr>
        <p:txBody>
          <a:bodyPr wrap="square" lIns="0" tIns="0" rIns="0" bIns="0" rtlCol="0" anchor="ctr">
            <a:normAutofit/>
          </a:bodyPr>
          <a:lstStyle/>
          <a:p>
            <a:pPr algn="l" indent="0" marL="0">
              <a:buNone/>
            </a:pPr>
            <a:r>
              <a:rPr lang="en-US" sz="750" spc="110" kern="0" dirty="0">
                <a:solidFill>
                  <a:srgbClr val="738294"/>
                </a:solidFill>
                <a:latin typeface="Inter" pitchFamily="34" charset="0"/>
                <a:ea typeface="Inter" pitchFamily="34" charset="-122"/>
                <a:cs typeface="Inter" pitchFamily="34" charset="-120"/>
              </a:rPr>
              <a:t>UNIBIZ  ·  CAMPUS TO COMMERCE</a:t>
            </a:r>
            <a:endParaRPr lang="en-US" sz="750" dirty="0"/>
          </a:p>
        </p:txBody>
      </p:sp>
      <p:sp>
        <p:nvSpPr>
          <p:cNvPr id="24" name="Text 21"/>
          <p:cNvSpPr/>
          <p:nvPr/>
        </p:nvSpPr>
        <p:spPr>
          <a:xfrm>
            <a:off x="11009376" y="6537960"/>
            <a:ext cx="566928" cy="164592"/>
          </a:xfrm>
          <a:prstGeom prst="rect">
            <a:avLst/>
          </a:prstGeom>
          <a:noFill/>
          <a:ln/>
        </p:spPr>
        <p:txBody>
          <a:bodyPr wrap="square" lIns="0" tIns="0" rIns="0" bIns="0" rtlCol="0" anchor="ctr">
            <a:normAutofit/>
          </a:bodyPr>
          <a:lstStyle/>
          <a:p>
            <a:pPr algn="r" indent="0" marL="0">
              <a:buNone/>
            </a:pPr>
            <a:r>
              <a:rPr lang="en-US" sz="800" dirty="0">
                <a:solidFill>
                  <a:srgbClr val="738294"/>
                </a:solidFill>
                <a:latin typeface="Inter" pitchFamily="34" charset="0"/>
                <a:ea typeface="Inter" pitchFamily="34" charset="-122"/>
                <a:cs typeface="Inter" pitchFamily="34" charset="-120"/>
              </a:rPr>
              <a:t>4 / 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B2C"/>
        </a:solidFill>
      </p:bgPr>
    </p:bg>
    <p:spTree>
      <p:nvGrpSpPr>
        <p:cNvPr id="1" name=""/>
        <p:cNvGrpSpPr/>
        <p:nvPr/>
      </p:nvGrpSpPr>
      <p:grpSpPr>
        <a:xfrm>
          <a:off x="0" y="0"/>
          <a:ext cx="0" cy="0"/>
          <a:chOff x="0" y="0"/>
          <a:chExt cx="0" cy="0"/>
        </a:xfrm>
      </p:grpSpPr>
      <p:sp>
        <p:nvSpPr>
          <p:cNvPr id="2" name="Shape 0"/>
          <p:cNvSpPr/>
          <p:nvPr/>
        </p:nvSpPr>
        <p:spPr>
          <a:xfrm>
            <a:off x="685800" y="521208"/>
            <a:ext cx="1783080" cy="256032"/>
          </a:xfrm>
          <a:prstGeom prst="roundRect">
            <a:avLst>
              <a:gd name="adj" fmla="val 25000"/>
            </a:avLst>
          </a:prstGeom>
          <a:solidFill>
            <a:srgbClr val="203348"/>
          </a:solidFill>
          <a:ln w="7620">
            <a:solidFill>
              <a:srgbClr val="203348">
                <a:alpha val="0"/>
              </a:srgbClr>
            </a:solidFill>
            <a:prstDash val="solid"/>
          </a:ln>
        </p:spPr>
      </p:sp>
      <p:sp>
        <p:nvSpPr>
          <p:cNvPr id="3" name="Text 1"/>
          <p:cNvSpPr/>
          <p:nvPr/>
        </p:nvSpPr>
        <p:spPr>
          <a:xfrm>
            <a:off x="777240" y="534924"/>
            <a:ext cx="1600200" cy="201168"/>
          </a:xfrm>
          <a:prstGeom prst="rect">
            <a:avLst/>
          </a:prstGeom>
          <a:noFill/>
          <a:ln/>
        </p:spPr>
        <p:txBody>
          <a:bodyPr wrap="square" lIns="0" tIns="0" rIns="0" bIns="0" rtlCol="0" anchor="ctr">
            <a:normAutofit/>
          </a:bodyPr>
          <a:lstStyle/>
          <a:p>
            <a:pPr algn="l" indent="0" marL="0">
              <a:buNone/>
            </a:pPr>
            <a:r>
              <a:rPr lang="en-US" sz="850" b="1" spc="80" kern="0" dirty="0">
                <a:solidFill>
                  <a:srgbClr val="63D8C4"/>
                </a:solidFill>
                <a:latin typeface="Inter" pitchFamily="34" charset="0"/>
                <a:ea typeface="Inter" pitchFamily="34" charset="-122"/>
                <a:cs typeface="Inter" pitchFamily="34" charset="-120"/>
              </a:rPr>
              <a:t>WHY UNIBIZ MATTERS</a:t>
            </a:r>
            <a:endParaRPr lang="en-US" sz="850" dirty="0"/>
          </a:p>
        </p:txBody>
      </p:sp>
      <p:sp>
        <p:nvSpPr>
          <p:cNvPr id="4" name="Text 2"/>
          <p:cNvSpPr/>
          <p:nvPr/>
        </p:nvSpPr>
        <p:spPr>
          <a:xfrm>
            <a:off x="658368" y="1069848"/>
            <a:ext cx="7498080" cy="1216152"/>
          </a:xfrm>
          <a:prstGeom prst="rect">
            <a:avLst/>
          </a:prstGeom>
          <a:noFill/>
          <a:ln/>
        </p:spPr>
        <p:txBody>
          <a:bodyPr wrap="square" lIns="0" tIns="0" rIns="0" bIns="0" rtlCol="0" anchor="t">
            <a:normAutofit/>
          </a:bodyPr>
          <a:lstStyle/>
          <a:p>
            <a:pPr algn="l" indent="0" marL="0">
              <a:buNone/>
            </a:pPr>
            <a:r>
              <a:rPr lang="en-US" sz="3500" b="1" dirty="0">
                <a:solidFill>
                  <a:srgbClr val="FFFFFF"/>
                </a:solidFill>
                <a:latin typeface="Inter" pitchFamily="34" charset="0"/>
                <a:ea typeface="Inter" pitchFamily="34" charset="-122"/>
                <a:cs typeface="Inter" pitchFamily="34" charset="-120"/>
              </a:rPr>
              <a:t>Good work deserves</a:t>
            </a:r>
            <a:endParaRPr lang="en-US" sz="3500" dirty="0"/>
          </a:p>
          <a:p>
            <a:pPr algn="l" indent="0" marL="0">
              <a:buNone/>
            </a:pPr>
            <a:r>
              <a:rPr lang="en-US" sz="3500" b="1" dirty="0">
                <a:solidFill>
                  <a:srgbClr val="FFFFFF"/>
                </a:solidFill>
                <a:latin typeface="Inter" pitchFamily="34" charset="0"/>
                <a:ea typeface="Inter" pitchFamily="34" charset="-122"/>
                <a:cs typeface="Inter" pitchFamily="34" charset="-120"/>
              </a:rPr>
              <a:t>a second life.</a:t>
            </a:r>
            <a:endParaRPr lang="en-US" sz="3500" dirty="0"/>
          </a:p>
        </p:txBody>
      </p:sp>
      <p:sp>
        <p:nvSpPr>
          <p:cNvPr id="5" name="Text 3"/>
          <p:cNvSpPr/>
          <p:nvPr/>
        </p:nvSpPr>
        <p:spPr>
          <a:xfrm>
            <a:off x="694944" y="2441448"/>
            <a:ext cx="9692640" cy="347472"/>
          </a:xfrm>
          <a:prstGeom prst="rect">
            <a:avLst/>
          </a:prstGeom>
          <a:noFill/>
          <a:ln/>
        </p:spPr>
        <p:txBody>
          <a:bodyPr wrap="square" lIns="0" tIns="0" rIns="0" bIns="0" rtlCol="0" anchor="ctr">
            <a:normAutofit/>
          </a:bodyPr>
          <a:lstStyle/>
          <a:p>
            <a:pPr algn="l" indent="0" marL="0">
              <a:buNone/>
            </a:pPr>
            <a:r>
              <a:rPr lang="en-US" sz="1700" dirty="0">
                <a:solidFill>
                  <a:srgbClr val="D3DEE7"/>
                </a:solidFill>
                <a:latin typeface="Inter" pitchFamily="34" charset="0"/>
                <a:ea typeface="Inter" pitchFamily="34" charset="-122"/>
                <a:cs typeface="Inter" pitchFamily="34" charset="-120"/>
              </a:rPr>
              <a:t>Turn school projects into something people can actually use.</a:t>
            </a:r>
            <a:endParaRPr lang="en-US" sz="1700" dirty="0"/>
          </a:p>
        </p:txBody>
      </p:sp>
      <p:sp>
        <p:nvSpPr>
          <p:cNvPr id="6" name="Shape 4"/>
          <p:cNvSpPr/>
          <p:nvPr/>
        </p:nvSpPr>
        <p:spPr>
          <a:xfrm>
            <a:off x="685800" y="3246120"/>
            <a:ext cx="5257800" cy="1417320"/>
          </a:xfrm>
          <a:prstGeom prst="roundRect">
            <a:avLst>
              <a:gd name="adj" fmla="val 9032"/>
            </a:avLst>
          </a:prstGeom>
          <a:solidFill>
            <a:srgbClr val="14263A"/>
          </a:solidFill>
          <a:ln w="10160">
            <a:solidFill>
              <a:srgbClr val="294054"/>
            </a:solidFill>
            <a:prstDash val="solid"/>
          </a:ln>
        </p:spPr>
      </p:sp>
      <p:sp>
        <p:nvSpPr>
          <p:cNvPr id="7" name="Shape 5"/>
          <p:cNvSpPr/>
          <p:nvPr/>
        </p:nvSpPr>
        <p:spPr>
          <a:xfrm>
            <a:off x="969264" y="3547872"/>
            <a:ext cx="438912" cy="438912"/>
          </a:xfrm>
          <a:prstGeom prst="ellipse">
            <a:avLst/>
          </a:prstGeom>
          <a:solidFill>
            <a:srgbClr val="63D8C4"/>
          </a:solidFill>
          <a:ln w="12700">
            <a:solidFill>
              <a:srgbClr val="63D8C4">
                <a:alpha val="0"/>
              </a:srgbClr>
            </a:solidFill>
            <a:prstDash val="solid"/>
          </a:ln>
        </p:spPr>
      </p:sp>
      <p:sp>
        <p:nvSpPr>
          <p:cNvPr id="8" name="Text 6"/>
          <p:cNvSpPr/>
          <p:nvPr/>
        </p:nvSpPr>
        <p:spPr>
          <a:xfrm>
            <a:off x="969264" y="3593592"/>
            <a:ext cx="438912" cy="310896"/>
          </a:xfrm>
          <a:prstGeom prst="rect">
            <a:avLst/>
          </a:prstGeom>
          <a:noFill/>
          <a:ln/>
        </p:spPr>
        <p:txBody>
          <a:bodyPr wrap="square" lIns="0" tIns="0" rIns="0" bIns="0" rtlCol="0" anchor="ctr">
            <a:normAutofit/>
          </a:bodyPr>
          <a:lstStyle/>
          <a:p>
            <a:pPr algn="ctr" indent="0" marL="0">
              <a:buNone/>
            </a:pPr>
            <a:r>
              <a:rPr lang="en-US" sz="1600" b="1" dirty="0">
                <a:solidFill>
                  <a:srgbClr val="0E1B2C"/>
                </a:solidFill>
                <a:latin typeface="Inter" pitchFamily="34" charset="0"/>
                <a:ea typeface="Inter" pitchFamily="34" charset="-122"/>
                <a:cs typeface="Inter" pitchFamily="34" charset="-120"/>
              </a:rPr>
              <a:t>S</a:t>
            </a:r>
            <a:endParaRPr lang="en-US" sz="1600" dirty="0"/>
          </a:p>
        </p:txBody>
      </p:sp>
      <p:sp>
        <p:nvSpPr>
          <p:cNvPr id="9" name="Text 7"/>
          <p:cNvSpPr/>
          <p:nvPr/>
        </p:nvSpPr>
        <p:spPr>
          <a:xfrm>
            <a:off x="1600200" y="3493008"/>
            <a:ext cx="2926080" cy="219456"/>
          </a:xfrm>
          <a:prstGeom prst="rect">
            <a:avLst/>
          </a:prstGeom>
          <a:noFill/>
          <a:ln/>
        </p:spPr>
        <p:txBody>
          <a:bodyPr wrap="square" lIns="0" tIns="0" rIns="0" bIns="0" rtlCol="0" anchor="ctr">
            <a:normAutofit/>
          </a:bodyPr>
          <a:lstStyle/>
          <a:p>
            <a:pPr algn="l" indent="0" marL="0">
              <a:buNone/>
            </a:pPr>
            <a:r>
              <a:rPr lang="en-US" sz="900" b="1" spc="130" kern="0" dirty="0">
                <a:solidFill>
                  <a:srgbClr val="63D8C4"/>
                </a:solidFill>
                <a:latin typeface="Inter" pitchFamily="34" charset="0"/>
                <a:ea typeface="Inter" pitchFamily="34" charset="-122"/>
                <a:cs typeface="Inter" pitchFamily="34" charset="-120"/>
              </a:rPr>
              <a:t>FOR STUDENTS</a:t>
            </a:r>
            <a:endParaRPr lang="en-US" sz="900" dirty="0"/>
          </a:p>
        </p:txBody>
      </p:sp>
      <p:sp>
        <p:nvSpPr>
          <p:cNvPr id="10" name="Text 8"/>
          <p:cNvSpPr/>
          <p:nvPr/>
        </p:nvSpPr>
        <p:spPr>
          <a:xfrm>
            <a:off x="1600200" y="3840480"/>
            <a:ext cx="3886200" cy="512064"/>
          </a:xfrm>
          <a:prstGeom prst="rect">
            <a:avLst/>
          </a:prstGeom>
          <a:noFill/>
          <a:ln/>
        </p:spPr>
        <p:txBody>
          <a:bodyPr wrap="square" lIns="0" tIns="0" rIns="0" bIns="0" rtlCol="0" anchor="t">
            <a:normAutofit/>
          </a:bodyPr>
          <a:lstStyle/>
          <a:p>
            <a:pPr algn="l" indent="0" marL="0">
              <a:buNone/>
            </a:pPr>
            <a:r>
              <a:rPr lang="en-US" sz="1500" b="1" dirty="0">
                <a:solidFill>
                  <a:srgbClr val="FFFFFF"/>
                </a:solidFill>
                <a:latin typeface="Inter" pitchFamily="34" charset="0"/>
                <a:ea typeface="Inter" pitchFamily="34" charset="-122"/>
                <a:cs typeface="Inter" pitchFamily="34" charset="-120"/>
              </a:rPr>
              <a:t>Show your work. Keep building. Earn from your skills.</a:t>
            </a:r>
            <a:endParaRPr lang="en-US" sz="1500" dirty="0"/>
          </a:p>
        </p:txBody>
      </p:sp>
      <p:sp>
        <p:nvSpPr>
          <p:cNvPr id="11" name="Shape 9"/>
          <p:cNvSpPr/>
          <p:nvPr/>
        </p:nvSpPr>
        <p:spPr>
          <a:xfrm>
            <a:off x="6208776" y="3246120"/>
            <a:ext cx="5285232" cy="1417320"/>
          </a:xfrm>
          <a:prstGeom prst="roundRect">
            <a:avLst>
              <a:gd name="adj" fmla="val 9032"/>
            </a:avLst>
          </a:prstGeom>
          <a:solidFill>
            <a:srgbClr val="14263A"/>
          </a:solidFill>
          <a:ln w="10160">
            <a:solidFill>
              <a:srgbClr val="294054"/>
            </a:solidFill>
            <a:prstDash val="solid"/>
          </a:ln>
        </p:spPr>
      </p:sp>
      <p:sp>
        <p:nvSpPr>
          <p:cNvPr id="12" name="Shape 10"/>
          <p:cNvSpPr/>
          <p:nvPr/>
        </p:nvSpPr>
        <p:spPr>
          <a:xfrm>
            <a:off x="6492240" y="3547872"/>
            <a:ext cx="438912" cy="438912"/>
          </a:xfrm>
          <a:prstGeom prst="ellipse">
            <a:avLst/>
          </a:prstGeom>
          <a:solidFill>
            <a:srgbClr val="FFD54A"/>
          </a:solidFill>
          <a:ln w="12700">
            <a:solidFill>
              <a:srgbClr val="FFD54A">
                <a:alpha val="0"/>
              </a:srgbClr>
            </a:solidFill>
            <a:prstDash val="solid"/>
          </a:ln>
        </p:spPr>
      </p:sp>
      <p:sp>
        <p:nvSpPr>
          <p:cNvPr id="13" name="Text 11"/>
          <p:cNvSpPr/>
          <p:nvPr/>
        </p:nvSpPr>
        <p:spPr>
          <a:xfrm>
            <a:off x="6492240" y="3593592"/>
            <a:ext cx="438912" cy="310896"/>
          </a:xfrm>
          <a:prstGeom prst="rect">
            <a:avLst/>
          </a:prstGeom>
          <a:noFill/>
          <a:ln/>
        </p:spPr>
        <p:txBody>
          <a:bodyPr wrap="square" lIns="0" tIns="0" rIns="0" bIns="0" rtlCol="0" anchor="ctr">
            <a:normAutofit/>
          </a:bodyPr>
          <a:lstStyle/>
          <a:p>
            <a:pPr algn="ctr" indent="0" marL="0">
              <a:buNone/>
            </a:pPr>
            <a:r>
              <a:rPr lang="en-US" sz="1600" b="1" dirty="0">
                <a:solidFill>
                  <a:srgbClr val="0E1B2C"/>
                </a:solidFill>
                <a:latin typeface="Inter" pitchFamily="34" charset="0"/>
                <a:ea typeface="Inter" pitchFamily="34" charset="-122"/>
                <a:cs typeface="Inter" pitchFamily="34" charset="-120"/>
              </a:rPr>
              <a:t>B</a:t>
            </a:r>
            <a:endParaRPr lang="en-US" sz="1600" dirty="0"/>
          </a:p>
        </p:txBody>
      </p:sp>
      <p:sp>
        <p:nvSpPr>
          <p:cNvPr id="14" name="Text 12"/>
          <p:cNvSpPr/>
          <p:nvPr/>
        </p:nvSpPr>
        <p:spPr>
          <a:xfrm>
            <a:off x="7123176" y="3493008"/>
            <a:ext cx="2926080" cy="219456"/>
          </a:xfrm>
          <a:prstGeom prst="rect">
            <a:avLst/>
          </a:prstGeom>
          <a:noFill/>
          <a:ln/>
        </p:spPr>
        <p:txBody>
          <a:bodyPr wrap="square" lIns="0" tIns="0" rIns="0" bIns="0" rtlCol="0" anchor="ctr">
            <a:normAutofit/>
          </a:bodyPr>
          <a:lstStyle/>
          <a:p>
            <a:pPr algn="l" indent="0" marL="0">
              <a:buNone/>
            </a:pPr>
            <a:r>
              <a:rPr lang="en-US" sz="900" b="1" spc="130" kern="0" dirty="0">
                <a:solidFill>
                  <a:srgbClr val="FFD54A"/>
                </a:solidFill>
                <a:latin typeface="Inter" pitchFamily="34" charset="0"/>
                <a:ea typeface="Inter" pitchFamily="34" charset="-122"/>
                <a:cs typeface="Inter" pitchFamily="34" charset="-120"/>
              </a:rPr>
              <a:t>FOR BUSINESSES</a:t>
            </a:r>
            <a:endParaRPr lang="en-US" sz="900" dirty="0"/>
          </a:p>
        </p:txBody>
      </p:sp>
      <p:sp>
        <p:nvSpPr>
          <p:cNvPr id="15" name="Text 13"/>
          <p:cNvSpPr/>
          <p:nvPr/>
        </p:nvSpPr>
        <p:spPr>
          <a:xfrm>
            <a:off x="7123176" y="3840480"/>
            <a:ext cx="3794760" cy="530352"/>
          </a:xfrm>
          <a:prstGeom prst="rect">
            <a:avLst/>
          </a:prstGeom>
          <a:noFill/>
          <a:ln/>
        </p:spPr>
        <p:txBody>
          <a:bodyPr wrap="square" lIns="0" tIns="0" rIns="0" bIns="0" rtlCol="0" anchor="t">
            <a:normAutofit/>
          </a:bodyPr>
          <a:lstStyle/>
          <a:p>
            <a:pPr algn="l" indent="0" marL="0">
              <a:buNone/>
            </a:pPr>
            <a:r>
              <a:rPr lang="en-US" sz="1500" b="1" dirty="0">
                <a:solidFill>
                  <a:srgbClr val="FFFFFF"/>
                </a:solidFill>
                <a:latin typeface="Inter" pitchFamily="34" charset="0"/>
                <a:ea typeface="Inter" pitchFamily="34" charset="-122"/>
                <a:cs typeface="Inter" pitchFamily="34" charset="-120"/>
              </a:rPr>
              <a:t>Find useful starting points without building everything from scratch.</a:t>
            </a:r>
            <a:endParaRPr lang="en-US" sz="1500" dirty="0"/>
          </a:p>
        </p:txBody>
      </p:sp>
      <p:sp>
        <p:nvSpPr>
          <p:cNvPr id="16" name="Shape 14"/>
          <p:cNvSpPr/>
          <p:nvPr/>
        </p:nvSpPr>
        <p:spPr>
          <a:xfrm>
            <a:off x="704088" y="5166360"/>
            <a:ext cx="10771632" cy="0"/>
          </a:xfrm>
          <a:prstGeom prst="line">
            <a:avLst/>
          </a:prstGeom>
          <a:noFill/>
          <a:ln w="10160">
            <a:solidFill>
              <a:srgbClr val="2C4052"/>
            </a:solidFill>
            <a:prstDash val="solid"/>
            <a:headEnd type="none"/>
            <a:tailEnd type="none"/>
          </a:ln>
        </p:spPr>
      </p:sp>
      <p:sp>
        <p:nvSpPr>
          <p:cNvPr id="17" name="Text 15"/>
          <p:cNvSpPr/>
          <p:nvPr/>
        </p:nvSpPr>
        <p:spPr>
          <a:xfrm>
            <a:off x="704088" y="5468112"/>
            <a:ext cx="1234440" cy="347472"/>
          </a:xfrm>
          <a:prstGeom prst="rect">
            <a:avLst/>
          </a:prstGeom>
          <a:noFill/>
          <a:ln/>
        </p:spPr>
        <p:txBody>
          <a:bodyPr wrap="square" lIns="0" tIns="0" rIns="0" bIns="0" rtlCol="0" anchor="ctr">
            <a:normAutofit/>
          </a:bodyPr>
          <a:lstStyle/>
          <a:p>
            <a:pPr algn="l" indent="0" marL="0">
              <a:buNone/>
            </a:pPr>
            <a:r>
              <a:rPr lang="en-US" sz="2200" b="1" dirty="0">
                <a:solidFill>
                  <a:srgbClr val="FFFFFF"/>
                </a:solidFill>
                <a:latin typeface="Inter" pitchFamily="34" charset="0"/>
                <a:ea typeface="Inter" pitchFamily="34" charset="-122"/>
                <a:cs typeface="Inter" pitchFamily="34" charset="-120"/>
              </a:rPr>
              <a:t>UniBiz</a:t>
            </a:r>
            <a:endParaRPr lang="en-US" sz="2200" dirty="0"/>
          </a:p>
        </p:txBody>
      </p:sp>
      <p:sp>
        <p:nvSpPr>
          <p:cNvPr id="18" name="Text 16"/>
          <p:cNvSpPr/>
          <p:nvPr/>
        </p:nvSpPr>
        <p:spPr>
          <a:xfrm>
            <a:off x="1920240" y="5522976"/>
            <a:ext cx="2926080" cy="228600"/>
          </a:xfrm>
          <a:prstGeom prst="rect">
            <a:avLst/>
          </a:prstGeom>
          <a:noFill/>
          <a:ln/>
        </p:spPr>
        <p:txBody>
          <a:bodyPr wrap="square" lIns="0" tIns="0" rIns="0" bIns="0" rtlCol="0" anchor="ctr">
            <a:normAutofit/>
          </a:bodyPr>
          <a:lstStyle/>
          <a:p>
            <a:pPr algn="l" indent="0" marL="0">
              <a:buNone/>
            </a:pPr>
            <a:r>
              <a:rPr lang="en-US" sz="1000" b="1" spc="150" kern="0" dirty="0">
                <a:solidFill>
                  <a:srgbClr val="63D8C4"/>
                </a:solidFill>
                <a:latin typeface="Inter" pitchFamily="34" charset="0"/>
                <a:ea typeface="Inter" pitchFamily="34" charset="-122"/>
                <a:cs typeface="Inter" pitchFamily="34" charset="-120"/>
              </a:rPr>
              <a:t>CAMPUS  →  COMMERCE</a:t>
            </a:r>
            <a:endParaRPr lang="en-US" sz="1000" dirty="0"/>
          </a:p>
        </p:txBody>
      </p:sp>
      <p:sp>
        <p:nvSpPr>
          <p:cNvPr id="19" name="Text 17"/>
          <p:cNvSpPr/>
          <p:nvPr/>
        </p:nvSpPr>
        <p:spPr>
          <a:xfrm>
            <a:off x="6492240" y="5486400"/>
            <a:ext cx="4983480" cy="292608"/>
          </a:xfrm>
          <a:prstGeom prst="rect">
            <a:avLst/>
          </a:prstGeom>
          <a:noFill/>
          <a:ln/>
        </p:spPr>
        <p:txBody>
          <a:bodyPr wrap="square" lIns="0" tIns="0" rIns="0" bIns="0" rtlCol="0" anchor="ctr">
            <a:normAutofit/>
          </a:bodyPr>
          <a:lstStyle/>
          <a:p>
            <a:pPr algn="r" indent="0" marL="0">
              <a:buNone/>
            </a:pPr>
            <a:r>
              <a:rPr lang="en-US" sz="1600" b="1" dirty="0">
                <a:solidFill>
                  <a:srgbClr val="FFD54A"/>
                </a:solidFill>
                <a:latin typeface="Inter" pitchFamily="34" charset="0"/>
                <a:ea typeface="Inter" pitchFamily="34" charset="-122"/>
                <a:cs typeface="Inter" pitchFamily="34" charset="-120"/>
              </a:rPr>
              <a:t>Don’t let good work end at submission.</a:t>
            </a:r>
            <a:endParaRPr lang="en-US" sz="1600" dirty="0"/>
          </a:p>
        </p:txBody>
      </p:sp>
      <p:sp>
        <p:nvSpPr>
          <p:cNvPr id="20" name="Shape 18"/>
          <p:cNvSpPr/>
          <p:nvPr/>
        </p:nvSpPr>
        <p:spPr>
          <a:xfrm>
            <a:off x="594360" y="6483096"/>
            <a:ext cx="11000232" cy="0"/>
          </a:xfrm>
          <a:prstGeom prst="line">
            <a:avLst/>
          </a:prstGeom>
          <a:noFill/>
          <a:ln w="7620">
            <a:solidFill>
              <a:srgbClr val="2C4052"/>
            </a:solidFill>
            <a:prstDash val="solid"/>
            <a:headEnd type="none"/>
            <a:tailEnd type="none"/>
          </a:ln>
        </p:spPr>
      </p:sp>
      <p:sp>
        <p:nvSpPr>
          <p:cNvPr id="21" name="Text 19"/>
          <p:cNvSpPr/>
          <p:nvPr/>
        </p:nvSpPr>
        <p:spPr>
          <a:xfrm>
            <a:off x="621792" y="6547104"/>
            <a:ext cx="4114800" cy="137160"/>
          </a:xfrm>
          <a:prstGeom prst="rect">
            <a:avLst/>
          </a:prstGeom>
          <a:noFill/>
          <a:ln/>
        </p:spPr>
        <p:txBody>
          <a:bodyPr wrap="square" lIns="0" tIns="0" rIns="0" bIns="0" rtlCol="0" anchor="ctr">
            <a:normAutofit/>
          </a:bodyPr>
          <a:lstStyle/>
          <a:p>
            <a:pPr algn="l" indent="0" marL="0">
              <a:buNone/>
            </a:pPr>
            <a:r>
              <a:rPr lang="en-US" sz="750" spc="110" kern="0" dirty="0">
                <a:solidFill>
                  <a:srgbClr val="91A5B7"/>
                </a:solidFill>
                <a:latin typeface="Inter" pitchFamily="34" charset="0"/>
                <a:ea typeface="Inter" pitchFamily="34" charset="-122"/>
                <a:cs typeface="Inter" pitchFamily="34" charset="-120"/>
              </a:rPr>
              <a:t>UNIBIZ  ·  CAMPUS TO COMMERCE</a:t>
            </a:r>
            <a:endParaRPr lang="en-US" sz="750" dirty="0"/>
          </a:p>
        </p:txBody>
      </p:sp>
      <p:sp>
        <p:nvSpPr>
          <p:cNvPr id="22" name="Text 20"/>
          <p:cNvSpPr/>
          <p:nvPr/>
        </p:nvSpPr>
        <p:spPr>
          <a:xfrm>
            <a:off x="11009376" y="6537960"/>
            <a:ext cx="566928" cy="164592"/>
          </a:xfrm>
          <a:prstGeom prst="rect">
            <a:avLst/>
          </a:prstGeom>
          <a:noFill/>
          <a:ln/>
        </p:spPr>
        <p:txBody>
          <a:bodyPr wrap="square" lIns="0" tIns="0" rIns="0" bIns="0" rtlCol="0" anchor="ctr">
            <a:normAutofit/>
          </a:bodyPr>
          <a:lstStyle/>
          <a:p>
            <a:pPr algn="r" indent="0" marL="0">
              <a:buNone/>
            </a:pPr>
            <a:r>
              <a:rPr lang="en-US" sz="800" dirty="0">
                <a:solidFill>
                  <a:srgbClr val="91A5B7"/>
                </a:solidFill>
                <a:latin typeface="Inter" pitchFamily="34" charset="0"/>
                <a:ea typeface="Inter" pitchFamily="34" charset="-122"/>
                <a:cs typeface="Inter" pitchFamily="34" charset="-120"/>
              </a:rPr>
              <a:t>5 / 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UniBiz</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UniBiz — Give Student Projects a Second Life</dc:title>
  <dc:subject>A simple 3-minute introduction to UniBiz</dc:subject>
  <dc:creator>UniBiz</dc:creator>
  <cp:lastModifiedBy>UniBiz</cp:lastModifiedBy>
  <cp:revision>1</cp:revision>
  <dcterms:created xsi:type="dcterms:W3CDTF">2026-10-10T11:35:00Z</dcterms:created>
  <dcterms:modified xsi:type="dcterms:W3CDTF">2026-10-10T11:35:00Z</dcterms:modified>
</cp:coreProperties>
</file>